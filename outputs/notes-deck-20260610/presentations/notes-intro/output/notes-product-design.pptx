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1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6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52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87952" y="1645920"/>
            <a:ext cx="38130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</a:t>
            </a:r>
            <a:endParaRPr lang="en-US" sz="5600" dirty="0"/>
          </a:p>
        </p:txBody>
      </p:sp>
      <p:sp>
        <p:nvSpPr>
          <p:cNvPr id="3" name="Shape 1"/>
          <p:cNvSpPr/>
          <p:nvPr/>
        </p:nvSpPr>
        <p:spPr>
          <a:xfrm>
            <a:off x="5148072" y="2788920"/>
            <a:ext cx="1901952" cy="20117"/>
          </a:xfrm>
          <a:prstGeom prst="rect">
            <a:avLst/>
          </a:prstGeom>
          <a:solidFill>
            <a:srgbClr val="E07B5A"/>
          </a:solidFill>
          <a:ln/>
        </p:spPr>
      </p:sp>
      <p:sp>
        <p:nvSpPr>
          <p:cNvPr id="4" name="Text 2"/>
          <p:cNvSpPr/>
          <p:nvPr/>
        </p:nvSpPr>
        <p:spPr>
          <a:xfrm>
            <a:off x="3236976" y="3017520"/>
            <a:ext cx="5715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0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简洁的桌面笔记应用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36976" y="3566160"/>
            <a:ext cx="5715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Design × Technical Architecture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239512" y="4206240"/>
            <a:ext cx="1527048" cy="320040"/>
          </a:xfrm>
          <a:prstGeom prst="roundRect">
            <a:avLst>
              <a:gd name="adj" fmla="val 11429"/>
            </a:avLst>
          </a:prstGeom>
          <a:solidFill>
            <a:srgbClr val="1A1A2E"/>
          </a:solidFill>
          <a:ln w="12700">
            <a:solidFill>
              <a:srgbClr val="E07B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9512" y="4206240"/>
            <a:ext cx="1527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v1.0.0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36976" y="5907024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4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Electron · React · TypeScript · Markdown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双栏架构将导航与编辑解耦，让聚焦成为默认状态。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58952" y="1691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核心交互模式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8952" y="210312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侧边栏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84248" y="2103120"/>
            <a:ext cx="3355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笔记列表、搜索、暗色/亮色主题切换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" y="2523744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编辑器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84248" y="2523744"/>
            <a:ext cx="3355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实时 Markdown 高亮，标题与正文分离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" y="294436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快捷键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84248" y="2944368"/>
            <a:ext cx="3355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Ctrl+N 新建，Ctrl+T 切换主题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3364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持久化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84248" y="3364992"/>
            <a:ext cx="3355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localStorage 自动保存，无服务端依赖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15000" y="1691640"/>
            <a:ext cx="5715000" cy="4389120"/>
          </a:xfrm>
          <a:prstGeom prst="roundRect">
            <a:avLst>
              <a:gd name="adj" fmla="val 1667"/>
            </a:avLst>
          </a:prstGeom>
          <a:solidFill>
            <a:srgbClr val="F0EDE8"/>
          </a:solidFill>
          <a:ln/>
        </p:spPr>
      </p:sp>
      <p:sp>
        <p:nvSpPr>
          <p:cNvPr id="14" name="Shape 12"/>
          <p:cNvSpPr/>
          <p:nvPr/>
        </p:nvSpPr>
        <p:spPr>
          <a:xfrm>
            <a:off x="5907024" y="1874520"/>
            <a:ext cx="2103120" cy="400507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6350">
            <a:solidFill>
              <a:srgbClr val="E0DC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920240"/>
            <a:ext cx="1719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Sidebar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2331720"/>
            <a:ext cx="1792224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/>
        </p:spPr>
      </p:sp>
      <p:sp>
        <p:nvSpPr>
          <p:cNvPr id="17" name="Text 15"/>
          <p:cNvSpPr/>
          <p:nvPr/>
        </p:nvSpPr>
        <p:spPr>
          <a:xfrm>
            <a:off x="6053328" y="2331720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搜索框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53328" y="2715768"/>
            <a:ext cx="1792224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2715768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新建按钮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53328" y="3099816"/>
            <a:ext cx="1792224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/>
        </p:spPr>
      </p:sp>
      <p:sp>
        <p:nvSpPr>
          <p:cNvPr id="21" name="Text 19"/>
          <p:cNvSpPr/>
          <p:nvPr/>
        </p:nvSpPr>
        <p:spPr>
          <a:xfrm>
            <a:off x="6053328" y="3099816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笔记列表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53328" y="3483864"/>
            <a:ext cx="1792224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/>
        </p:spPr>
      </p:sp>
      <p:sp>
        <p:nvSpPr>
          <p:cNvPr id="23" name="Text 21"/>
          <p:cNvSpPr/>
          <p:nvPr/>
        </p:nvSpPr>
        <p:spPr>
          <a:xfrm>
            <a:off x="6053328" y="3483864"/>
            <a:ext cx="1792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主题切换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93024" y="1874520"/>
            <a:ext cx="3044952" cy="4005072"/>
          </a:xfrm>
          <a:prstGeom prst="roundRect">
            <a:avLst>
              <a:gd name="adj" fmla="val 1201"/>
            </a:avLst>
          </a:prstGeom>
          <a:solidFill>
            <a:srgbClr val="FFFFFF"/>
          </a:solidFill>
          <a:ln w="6350">
            <a:solidFill>
              <a:srgbClr val="E0DC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1920240"/>
            <a:ext cx="267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39328" y="2331720"/>
            <a:ext cx="2743200" cy="384048"/>
          </a:xfrm>
          <a:prstGeom prst="roundRect">
            <a:avLst>
              <a:gd name="adj" fmla="val 7143"/>
            </a:avLst>
          </a:prstGeom>
          <a:solidFill>
            <a:srgbClr val="F0EDE8"/>
          </a:solidFill>
          <a:ln/>
        </p:spPr>
      </p:sp>
      <p:sp>
        <p:nvSpPr>
          <p:cNvPr id="27" name="Text 25"/>
          <p:cNvSpPr/>
          <p:nvPr/>
        </p:nvSpPr>
        <p:spPr>
          <a:xfrm>
            <a:off x="8339328" y="23317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标题输入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39328" y="2880360"/>
            <a:ext cx="2743200" cy="1920240"/>
          </a:xfrm>
          <a:prstGeom prst="roundRect">
            <a:avLst>
              <a:gd name="adj" fmla="val 1429"/>
            </a:avLst>
          </a:prstGeom>
          <a:solidFill>
            <a:srgbClr val="FAF8F5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39328" y="2880360"/>
            <a:ext cx="2743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正文编辑区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（Markdown 实时高亮）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39328" y="4919472"/>
            <a:ext cx="2743200" cy="228600"/>
          </a:xfrm>
          <a:prstGeom prst="roundRect">
            <a:avLst>
              <a:gd name="adj" fmla="val 12000"/>
            </a:avLst>
          </a:prstGeom>
          <a:solidFill>
            <a:srgbClr val="F0ED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39328" y="491947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状态栏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明暗双主题 + 零依赖Markdown渲染，用克制而非功能取胜。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58952" y="1691640"/>
            <a:ext cx="4572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1783080"/>
            <a:ext cx="4187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 Theme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50976" y="2148840"/>
            <a:ext cx="1828800" cy="3200400"/>
          </a:xfrm>
          <a:prstGeom prst="roundRect">
            <a:avLst>
              <a:gd name="adj" fmla="val 1500"/>
            </a:avLst>
          </a:prstGeom>
          <a:solidFill>
            <a:srgbClr val="F0EDE8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0" y="2148840"/>
            <a:ext cx="2212848" cy="1371600"/>
          </a:xfrm>
          <a:prstGeom prst="roundRect">
            <a:avLst>
              <a:gd name="adj" fmla="val 2000"/>
            </a:avLst>
          </a:prstGeom>
          <a:solidFill>
            <a:srgbClr val="FAF8F5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3611880"/>
            <a:ext cx="2212848" cy="1737360"/>
          </a:xfrm>
          <a:prstGeom prst="roundRect">
            <a:avLst>
              <a:gd name="adj" fmla="val 1579"/>
            </a:avLst>
          </a:prstGeom>
          <a:solidFill>
            <a:srgbClr val="FAF8F5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3611880"/>
            <a:ext cx="221284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编辑区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691640"/>
            <a:ext cx="4572000" cy="4114800"/>
          </a:xfrm>
          <a:prstGeom prst="roundRect">
            <a:avLst>
              <a:gd name="adj" fmla="val 1333"/>
            </a:avLst>
          </a:prstGeom>
          <a:solidFill>
            <a:srgbClr val="1A1A2E"/>
          </a:solidFill>
          <a:ln w="6350">
            <a:solidFill>
              <a:srgbClr val="3A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07024" y="1783080"/>
            <a:ext cx="4187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B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Dark Theme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07024" y="2148840"/>
            <a:ext cx="1828800" cy="3200400"/>
          </a:xfrm>
          <a:prstGeom prst="roundRect">
            <a:avLst>
              <a:gd name="adj" fmla="val 1500"/>
            </a:avLst>
          </a:prstGeom>
          <a:solidFill>
            <a:srgbClr val="2A2A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82128" y="2148840"/>
            <a:ext cx="2212848" cy="1371600"/>
          </a:xfrm>
          <a:prstGeom prst="roundRect">
            <a:avLst>
              <a:gd name="adj" fmla="val 2000"/>
            </a:avLst>
          </a:prstGeom>
          <a:solidFill>
            <a:srgbClr val="2A2A3E"/>
          </a:solidFill>
          <a:ln w="6350">
            <a:solidFill>
              <a:srgbClr val="3A3A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2128" y="3611880"/>
            <a:ext cx="2212848" cy="1737360"/>
          </a:xfrm>
          <a:prstGeom prst="roundRect">
            <a:avLst>
              <a:gd name="adj" fmla="val 1579"/>
            </a:avLst>
          </a:prstGeom>
          <a:solidFill>
            <a:srgbClr val="2A2A3E"/>
          </a:solidFill>
          <a:ln w="6350">
            <a:solidFill>
              <a:srgbClr val="3A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82128" y="3611880"/>
            <a:ext cx="221284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编辑区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0" y="1828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1828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" y="5989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设计令牌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8952" y="6263640"/>
            <a:ext cx="265176" cy="192024"/>
          </a:xfrm>
          <a:prstGeom prst="roundRect">
            <a:avLst>
              <a:gd name="adj" fmla="val 9524"/>
            </a:avLst>
          </a:prstGeom>
          <a:solidFill>
            <a:srgbClr val="FAF8F5"/>
          </a:solidFill>
          <a:ln w="3810">
            <a:solidFill>
              <a:srgbClr val="E8E3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6263640"/>
            <a:ext cx="1051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FAF8F5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White BG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50592" y="6263640"/>
            <a:ext cx="265176" cy="192024"/>
          </a:xfrm>
          <a:prstGeom prst="roundRect">
            <a:avLst>
              <a:gd name="adj" fmla="val 9524"/>
            </a:avLst>
          </a:prstGeom>
          <a:solidFill>
            <a:srgbClr val="1A1A2E"/>
          </a:solidFill>
          <a:ln w="3810">
            <a:solidFill>
              <a:srgbClr val="E8E3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0632" y="6263640"/>
            <a:ext cx="1051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1A1A2E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450592" y="60533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Dark Ink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42232" y="6263640"/>
            <a:ext cx="265176" cy="192024"/>
          </a:xfrm>
          <a:prstGeom prst="roundRect">
            <a:avLst>
              <a:gd name="adj" fmla="val 9524"/>
            </a:avLst>
          </a:prstGeom>
          <a:solidFill>
            <a:srgbClr val="E07B5A"/>
          </a:solidFill>
          <a:ln w="3810">
            <a:solidFill>
              <a:srgbClr val="E8E3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2272" y="6263640"/>
            <a:ext cx="1051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E07B5A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42232" y="60533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Terracotta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33872" y="6263640"/>
            <a:ext cx="265176" cy="192024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 w="3810">
            <a:solidFill>
              <a:srgbClr val="E8E3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53912" y="6263640"/>
            <a:ext cx="1051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4A7C96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833872" y="60533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Dusty Blue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25512" y="6263640"/>
            <a:ext cx="265176" cy="192024"/>
          </a:xfrm>
          <a:prstGeom prst="roundRect">
            <a:avLst>
              <a:gd name="adj" fmla="val 9524"/>
            </a:avLst>
          </a:prstGeom>
          <a:solidFill>
            <a:srgbClr val="8B9D83"/>
          </a:solidFill>
          <a:ln w="3810">
            <a:solidFill>
              <a:srgbClr val="E8E3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45552" y="6263640"/>
            <a:ext cx="1051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8B9D83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25512" y="60533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Sage Green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EDITING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编辑即预览：实时Markdown语法高亮让写作和阅读合为一体。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58952" y="1691640"/>
            <a:ext cx="685800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6350">
            <a:solidFill>
              <a:srgbClr val="E0DC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828800"/>
            <a:ext cx="6473952" cy="384048"/>
          </a:xfrm>
          <a:prstGeom prst="roundRect">
            <a:avLst>
              <a:gd name="adj" fmla="val 7143"/>
            </a:avLst>
          </a:prstGeom>
          <a:solidFill>
            <a:srgbClr val="F0EDE8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1828800"/>
            <a:ext cx="6291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我的第一篇笔记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50976" y="2377440"/>
            <a:ext cx="647395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欢迎使用笔记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这是一个 **Markdown** 编辑器。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支持 **粗体** 和 *斜体*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支持 `行内代码`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支持 [链接](https://example.com)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支持 &gt; 引用块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```js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note = createNote({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"Hello",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content: "World"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01000" y="16916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关键特性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01000" y="2221992"/>
            <a:ext cx="109728" cy="109728"/>
          </a:xfrm>
          <a:prstGeom prst="ellipse">
            <a:avLst/>
          </a:prstGeom>
          <a:solidFill>
            <a:srgbClr val="E07B5A"/>
          </a:solidFill>
          <a:ln/>
        </p:spPr>
      </p:sp>
      <p:sp>
        <p:nvSpPr>
          <p:cNvPr id="10" name="Text 8"/>
          <p:cNvSpPr/>
          <p:nvPr/>
        </p:nvSpPr>
        <p:spPr>
          <a:xfrm>
            <a:off x="8211312" y="2148840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实时高亮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11312" y="2350008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输入时即时反馈语法结构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2752344"/>
            <a:ext cx="109728" cy="109728"/>
          </a:xfrm>
          <a:prstGeom prst="ellipse">
            <a:avLst/>
          </a:prstGeom>
          <a:solidFill>
            <a:srgbClr val="E0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8211312" y="2679192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零依赖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880360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自研 Markdown 渲染器，约300行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01000" y="3282696"/>
            <a:ext cx="109728" cy="109728"/>
          </a:xfrm>
          <a:prstGeom prst="ellipse">
            <a:avLst/>
          </a:prstGeom>
          <a:solidFill>
            <a:srgbClr val="E0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3209544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块级解析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11312" y="3410712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标题、代码块、引用、列表独立处理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01000" y="3813048"/>
            <a:ext cx="109728" cy="109728"/>
          </a:xfrm>
          <a:prstGeom prst="ellipse">
            <a:avLst/>
          </a:prstGeom>
          <a:solidFill>
            <a:srgbClr val="E07B5A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3739896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行内解析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11312" y="3941064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粗体、斜体、代码、链接并行解析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109728" cy="109728"/>
          </a:xfrm>
          <a:prstGeom prst="ellipse">
            <a:avLst/>
          </a:prstGeom>
          <a:solidFill>
            <a:srgbClr val="E07B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11312" y="4270248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代码着色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11312" y="4471416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基于关键字的内置语法高亮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FLOW &amp; STATE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useReducer + Context 的单向数据流，让状态变化可追踪。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36976" y="1645920"/>
            <a:ext cx="5715000" cy="420624"/>
          </a:xfrm>
          <a:prstGeom prst="roundRect">
            <a:avLst>
              <a:gd name="adj" fmla="val 8696"/>
            </a:avLst>
          </a:prstGeom>
          <a:solidFill>
            <a:srgbClr val="E07B5A"/>
          </a:solidFill>
          <a:ln/>
        </p:spPr>
      </p:sp>
      <p:sp>
        <p:nvSpPr>
          <p:cNvPr id="5" name="Text 3"/>
          <p:cNvSpPr/>
          <p:nvPr/>
        </p:nvSpPr>
        <p:spPr>
          <a:xfrm>
            <a:off x="3236976" y="1645920"/>
            <a:ext cx="5715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Actions (dispatch)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36976" y="2103120"/>
            <a:ext cx="5715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SET_NOTES  ADD_NOTE  UPDATE_NOTE  DELETE_NOTE  SELECT_NOTE  SET_SEARCH_QUERY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61888" y="2331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9EB0"/>
                </a:solidFill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36976" y="2788920"/>
            <a:ext cx="5715000" cy="420624"/>
          </a:xfrm>
          <a:prstGeom prst="roundRect">
            <a:avLst>
              <a:gd name="adj" fmla="val 8696"/>
            </a:avLst>
          </a:prstGeom>
          <a:solidFill>
            <a:srgbClr val="4A7C96"/>
          </a:solidFill>
          <a:ln/>
        </p:spPr>
      </p:sp>
      <p:sp>
        <p:nvSpPr>
          <p:cNvPr id="9" name="Text 7"/>
          <p:cNvSpPr/>
          <p:nvPr/>
        </p:nvSpPr>
        <p:spPr>
          <a:xfrm>
            <a:off x="3236976" y="2788920"/>
            <a:ext cx="5715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useReducer (notesReducer)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61888" y="32004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9EB0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36976" y="3657600"/>
            <a:ext cx="5715000" cy="420624"/>
          </a:xfrm>
          <a:prstGeom prst="roundRect">
            <a:avLst>
              <a:gd name="adj" fmla="val 8696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3236976" y="3657600"/>
            <a:ext cx="5715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NotesState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4114800"/>
            <a:ext cx="7616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notes, selectedId, searchQuery, showTestPanel 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3000" y="2788920"/>
            <a:ext cx="1901952" cy="420624"/>
          </a:xfrm>
          <a:prstGeom prst="roundRect">
            <a:avLst>
              <a:gd name="adj" fmla="val 8696"/>
            </a:avLst>
          </a:prstGeom>
          <a:solidFill>
            <a:srgbClr val="8B9D83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27889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NotesContext.Provider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3474720"/>
            <a:ext cx="2286000" cy="329184"/>
          </a:xfrm>
          <a:prstGeom prst="roundRect">
            <a:avLst>
              <a:gd name="adj" fmla="val 11111"/>
            </a:avLst>
          </a:prstGeom>
          <a:solidFill>
            <a:srgbClr val="2A2A3E"/>
          </a:solidFill>
          <a:ln/>
        </p:spPr>
      </p:sp>
      <p:sp>
        <p:nvSpPr>
          <p:cNvPr id="17" name="Text 15"/>
          <p:cNvSpPr/>
          <p:nvPr/>
        </p:nvSpPr>
        <p:spPr>
          <a:xfrm>
            <a:off x="758952" y="34747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useNotes()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" y="3931920"/>
            <a:ext cx="2286000" cy="329184"/>
          </a:xfrm>
          <a:prstGeom prst="roundRect">
            <a:avLst>
              <a:gd name="adj" fmla="val 11111"/>
            </a:avLst>
          </a:prstGeom>
          <a:solidFill>
            <a:srgbClr val="2A2A3E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" y="39319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useNotesContext()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754880"/>
            <a:ext cx="2651760" cy="420624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" y="475488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localStorage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35440" y="1920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用户操作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235440" y="2788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状态机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2788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D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全局共享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6634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持久化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0" y="3657600"/>
            <a:ext cx="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E9EB0"/>
                </a:solidFill>
              </a:rPr>
              <a:t>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组件树从App到叶子的分层清晰，每个模块职责单一。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36976" y="1691640"/>
            <a:ext cx="5715000" cy="347472"/>
          </a:xfrm>
          <a:prstGeom prst="roundRect">
            <a:avLst>
              <a:gd name="adj" fmla="val 10526"/>
            </a:avLst>
          </a:prstGeom>
          <a:solidFill>
            <a:srgbClr val="1A1A2E"/>
          </a:solidFill>
          <a:ln/>
        </p:spPr>
      </p:sp>
      <p:sp>
        <p:nvSpPr>
          <p:cNvPr id="5" name="Text 3"/>
          <p:cNvSpPr/>
          <p:nvPr/>
        </p:nvSpPr>
        <p:spPr>
          <a:xfrm>
            <a:off x="3236976" y="1691640"/>
            <a:ext cx="5715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(NotesProvider + Layout)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58952" y="2560320"/>
            <a:ext cx="4572000" cy="347472"/>
          </a:xfrm>
          <a:prstGeom prst="roundRect">
            <a:avLst>
              <a:gd name="adj" fmla="val 10526"/>
            </a:avLst>
          </a:prstGeom>
          <a:solidFill>
            <a:srgbClr val="4A7C96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56032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Sidebar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15000" y="2560320"/>
            <a:ext cx="3429000" cy="347472"/>
          </a:xfrm>
          <a:prstGeom prst="roundRect">
            <a:avLst>
              <a:gd name="adj" fmla="val 10526"/>
            </a:avLst>
          </a:prstGeom>
          <a:solidFill>
            <a:srgbClr val="4A7C96"/>
          </a:solidFill>
          <a:ln/>
        </p:spPr>
      </p:sp>
      <p:sp>
        <p:nvSpPr>
          <p:cNvPr id="9" name="Text 7"/>
          <p:cNvSpPr/>
          <p:nvPr/>
        </p:nvSpPr>
        <p:spPr>
          <a:xfrm>
            <a:off x="5715000" y="256032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28048" y="2560320"/>
            <a:ext cx="2286000" cy="347472"/>
          </a:xfrm>
          <a:prstGeom prst="roundRect">
            <a:avLst>
              <a:gd name="adj" fmla="val 10526"/>
            </a:avLst>
          </a:prstGeom>
          <a:solidFill>
            <a:srgbClr val="4A7C96"/>
          </a:solidFill>
          <a:ln/>
        </p:spPr>
      </p:sp>
      <p:sp>
        <p:nvSpPr>
          <p:cNvPr id="11" name="Text 9"/>
          <p:cNvSpPr/>
          <p:nvPr/>
        </p:nvSpPr>
        <p:spPr>
          <a:xfrm>
            <a:off x="9528048" y="25603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TestPanel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" y="3337560"/>
            <a:ext cx="2093976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337560"/>
            <a:ext cx="20939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SearchBar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44952" y="3337560"/>
            <a:ext cx="2093976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4952" y="3337560"/>
            <a:ext cx="20939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NoteList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715000" y="3337560"/>
            <a:ext cx="1901952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3337560"/>
            <a:ext cx="1901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TitleInput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808976" y="3337560"/>
            <a:ext cx="2286000" cy="292608"/>
          </a:xfrm>
          <a:prstGeom prst="roundRect">
            <a:avLst>
              <a:gd name="adj" fmla="val 9375"/>
            </a:avLst>
          </a:prstGeom>
          <a:solidFill>
            <a:srgbClr val="F0EDE8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08976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MarkdownEditor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5895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自定义 Hooks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58952" y="4526280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52628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useNotes()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4782312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CRUD 操作 + 列表查询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99048" y="4526280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25" name="Text 23"/>
          <p:cNvSpPr/>
          <p:nvPr/>
        </p:nvSpPr>
        <p:spPr>
          <a:xfrm>
            <a:off x="6236208" y="452628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useNotesContext()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36208" y="4782312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访问全局状态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952" y="5093208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509320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useKeyboard()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6112" y="5349240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全局快捷键绑定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5093208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31" name="Text 29"/>
          <p:cNvSpPr/>
          <p:nvPr/>
        </p:nvSpPr>
        <p:spPr>
          <a:xfrm>
            <a:off x="6236208" y="509320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useSearch()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36208" y="5349240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搜索过滤逻辑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58952" y="5660136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34" name="Text 32"/>
          <p:cNvSpPr/>
          <p:nvPr/>
        </p:nvSpPr>
        <p:spPr>
          <a:xfrm>
            <a:off x="896112" y="5660136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useTheme()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96112" y="5916168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主题切换 + 持久化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99048" y="5660136"/>
            <a:ext cx="3429000" cy="475488"/>
          </a:xfrm>
          <a:prstGeom prst="roundRect">
            <a:avLst>
              <a:gd name="adj" fmla="val 7692"/>
            </a:avLst>
          </a:prstGeom>
          <a:solidFill>
            <a:srgbClr val="F0EDE8"/>
          </a:solidFill>
          <a:ln/>
        </p:spPr>
      </p:sp>
      <p:sp>
        <p:nvSpPr>
          <p:cNvPr id="37" name="Text 35"/>
          <p:cNvSpPr/>
          <p:nvPr/>
        </p:nvSpPr>
        <p:spPr>
          <a:xfrm>
            <a:off x="6236208" y="5660136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0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useEditorSync()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36208" y="5916168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编辑器与状态同步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Electron + React + TypeScript + Vite，现代桌面应用技术栈。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58952" y="1691640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69164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Electron Shell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05072" y="1691640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7" name="Text 5"/>
          <p:cNvSpPr/>
          <p:nvPr/>
        </p:nvSpPr>
        <p:spPr>
          <a:xfrm>
            <a:off x="4187952" y="1691640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Process  (electron/main.ts)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05072" y="2176272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9" name="Text 7"/>
          <p:cNvSpPr/>
          <p:nvPr/>
        </p:nvSpPr>
        <p:spPr>
          <a:xfrm>
            <a:off x="4187952" y="2176272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 Menus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05072" y="2660904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11" name="Text 9"/>
          <p:cNvSpPr/>
          <p:nvPr/>
        </p:nvSpPr>
        <p:spPr>
          <a:xfrm>
            <a:off x="4187952" y="2660904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I/O  (IPC Handlers)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05072" y="3145536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13" name="Text 11"/>
          <p:cNvSpPr/>
          <p:nvPr/>
        </p:nvSpPr>
        <p:spPr>
          <a:xfrm>
            <a:off x="4187952" y="3145536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 Management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1691640"/>
            <a:ext cx="36576" cy="1938528"/>
          </a:xfrm>
          <a:prstGeom prst="roundRect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58952" y="3767328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4A7C96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767328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Renderer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05072" y="3767328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18" name="Text 16"/>
          <p:cNvSpPr/>
          <p:nvPr/>
        </p:nvSpPr>
        <p:spPr>
          <a:xfrm>
            <a:off x="4187952" y="3767328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18 + TypeScript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05072" y="4251960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20" name="Text 18"/>
          <p:cNvSpPr/>
          <p:nvPr/>
        </p:nvSpPr>
        <p:spPr>
          <a:xfrm>
            <a:off x="4187952" y="4251960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  (electron-vite)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005072" y="4736592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22" name="Text 20"/>
          <p:cNvSpPr/>
          <p:nvPr/>
        </p:nvSpPr>
        <p:spPr>
          <a:xfrm>
            <a:off x="4187952" y="4736592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CSS Variables + Classnames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05072" y="5221224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24" name="Text 22"/>
          <p:cNvSpPr/>
          <p:nvPr/>
        </p:nvSpPr>
        <p:spPr>
          <a:xfrm>
            <a:off x="4187952" y="5221224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Hooks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01000" y="3767328"/>
            <a:ext cx="36576" cy="1938528"/>
          </a:xfrm>
          <a:prstGeom prst="roundRect">
            <a:avLst/>
          </a:prstGeom>
          <a:solidFill>
            <a:srgbClr val="4A7C9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8952" y="5843016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8B9D83"/>
          </a:solidFill>
          <a:ln/>
        </p:spPr>
      </p:sp>
      <p:sp>
        <p:nvSpPr>
          <p:cNvPr id="27" name="Text 25"/>
          <p:cNvSpPr/>
          <p:nvPr/>
        </p:nvSpPr>
        <p:spPr>
          <a:xfrm>
            <a:off x="758952" y="5843016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Libraries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005072" y="5843016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29" name="Text 27"/>
          <p:cNvSpPr/>
          <p:nvPr/>
        </p:nvSpPr>
        <p:spPr>
          <a:xfrm>
            <a:off x="4187952" y="5843016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 Parser  (~300 lines)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05072" y="6327648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31" name="Text 29"/>
          <p:cNvSpPr/>
          <p:nvPr/>
        </p:nvSpPr>
        <p:spPr>
          <a:xfrm>
            <a:off x="4187952" y="6327648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 Highlighter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05072" y="6812280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33" name="Text 31"/>
          <p:cNvSpPr/>
          <p:nvPr/>
        </p:nvSpPr>
        <p:spPr>
          <a:xfrm>
            <a:off x="4187952" y="6812280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CRUD Logic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05072" y="7296912"/>
            <a:ext cx="3813048" cy="365760"/>
          </a:xfrm>
          <a:prstGeom prst="roundRect">
            <a:avLst>
              <a:gd name="adj" fmla="val 7500"/>
            </a:avLst>
          </a:prstGeom>
          <a:solidFill>
            <a:srgbClr val="F0EDE8"/>
          </a:solidFill>
          <a:ln/>
        </p:spPr>
      </p:sp>
      <p:sp>
        <p:nvSpPr>
          <p:cNvPr id="35" name="Text 33"/>
          <p:cNvSpPr/>
          <p:nvPr/>
        </p:nvSpPr>
        <p:spPr>
          <a:xfrm>
            <a:off x="4187952" y="7296912"/>
            <a:ext cx="3447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 Adapter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01000" y="5843016"/>
            <a:ext cx="36576" cy="1938528"/>
          </a:xfrm>
          <a:prstGeom prst="roundRect">
            <a:avLst/>
          </a:prstGeom>
          <a:solidFill>
            <a:srgbClr val="8B9D83"/>
          </a:solidFill>
          <a:ln/>
        </p:spPr>
      </p:sp>
      <p:sp>
        <p:nvSpPr>
          <p:cNvPr id="37" name="Text 35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LIBRARIES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零外部Markdown依赖的自研渲染器是项目的技术脊梁。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58952" y="1691640"/>
            <a:ext cx="1901952" cy="384048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691640"/>
            <a:ext cx="1901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Markdown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97480" y="169164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E9EB0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044952" y="1691640"/>
            <a:ext cx="1901952" cy="384048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/>
        </p:spPr>
      </p:sp>
      <p:sp>
        <p:nvSpPr>
          <p:cNvPr id="8" name="Text 6"/>
          <p:cNvSpPr/>
          <p:nvPr/>
        </p:nvSpPr>
        <p:spPr>
          <a:xfrm>
            <a:off x="3044952" y="1691640"/>
            <a:ext cx="1901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块级解析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(lines → blocks)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83480" y="169164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E9EB0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30952" y="1691640"/>
            <a:ext cx="1901952" cy="384048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/>
        </p:spPr>
      </p:sp>
      <p:sp>
        <p:nvSpPr>
          <p:cNvPr id="11" name="Text 9"/>
          <p:cNvSpPr/>
          <p:nvPr/>
        </p:nvSpPr>
        <p:spPr>
          <a:xfrm>
            <a:off x="5330952" y="1691640"/>
            <a:ext cx="1901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行内解析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(inline tokens)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69480" y="169164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E9EB0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16952" y="1691640"/>
            <a:ext cx="1901952" cy="384048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/>
        </p:spPr>
      </p:sp>
      <p:sp>
        <p:nvSpPr>
          <p:cNvPr id="14" name="Text 12"/>
          <p:cNvSpPr/>
          <p:nvPr/>
        </p:nvSpPr>
        <p:spPr>
          <a:xfrm>
            <a:off x="7616952" y="1691640"/>
            <a:ext cx="1901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生成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55480" y="169164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E9EB0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902952" y="1691640"/>
            <a:ext cx="1901952" cy="384048"/>
          </a:xfrm>
          <a:prstGeom prst="roundRect">
            <a:avLst>
              <a:gd name="adj" fmla="val 9524"/>
            </a:avLst>
          </a:prstGeom>
          <a:solidFill>
            <a:srgbClr val="4A7C96"/>
          </a:solidFill>
          <a:ln/>
        </p:spPr>
      </p:sp>
      <p:sp>
        <p:nvSpPr>
          <p:cNvPr id="17" name="Text 15"/>
          <p:cNvSpPr/>
          <p:nvPr/>
        </p:nvSpPr>
        <p:spPr>
          <a:xfrm>
            <a:off x="9902952" y="1691640"/>
            <a:ext cx="1901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语法高亮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语法支持矩阵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" y="2834640"/>
            <a:ext cx="4572000" cy="292608"/>
          </a:xfrm>
          <a:prstGeom prst="roundRect">
            <a:avLst>
              <a:gd name="adj" fmla="val 12500"/>
            </a:avLst>
          </a:prstGeom>
          <a:solidFill>
            <a:srgbClr val="1A1A2E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28346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语法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30952" y="2834640"/>
            <a:ext cx="3044952" cy="292608"/>
          </a:xfrm>
          <a:prstGeom prst="roundRect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5330952" y="2834640"/>
            <a:ext cx="3044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类型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85048" y="2834640"/>
            <a:ext cx="1527048" cy="292608"/>
          </a:xfrm>
          <a:prstGeom prst="roundRect">
            <a:avLst>
              <a:gd name="adj" fmla="val 12500"/>
            </a:avLst>
          </a:prstGeom>
          <a:solidFill>
            <a:srgbClr val="1A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8385048" y="2834640"/>
            <a:ext cx="1527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支持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58952" y="3127248"/>
            <a:ext cx="4572000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" y="312724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H1 ~ ###### H6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30952" y="3127248"/>
            <a:ext cx="3044952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28" name="Text 26"/>
          <p:cNvSpPr/>
          <p:nvPr/>
        </p:nvSpPr>
        <p:spPr>
          <a:xfrm>
            <a:off x="5422392" y="3127248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标题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385048" y="3127248"/>
            <a:ext cx="1527048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30" name="Text 28"/>
          <p:cNvSpPr/>
          <p:nvPr/>
        </p:nvSpPr>
        <p:spPr>
          <a:xfrm>
            <a:off x="8476488" y="3127248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58952" y="3419856"/>
            <a:ext cx="4572000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" y="341985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**粗体**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30952" y="3419856"/>
            <a:ext cx="3044952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4" name="Text 32"/>
          <p:cNvSpPr/>
          <p:nvPr/>
        </p:nvSpPr>
        <p:spPr>
          <a:xfrm>
            <a:off x="5422392" y="3419856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粗体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385048" y="3419856"/>
            <a:ext cx="1527048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6" name="Text 34"/>
          <p:cNvSpPr/>
          <p:nvPr/>
        </p:nvSpPr>
        <p:spPr>
          <a:xfrm>
            <a:off x="8476488" y="3419856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58952" y="3712464"/>
            <a:ext cx="4572000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" y="371246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*斜体*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30952" y="3712464"/>
            <a:ext cx="3044952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40" name="Text 38"/>
          <p:cNvSpPr/>
          <p:nvPr/>
        </p:nvSpPr>
        <p:spPr>
          <a:xfrm>
            <a:off x="5422392" y="3712464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斜体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385048" y="3712464"/>
            <a:ext cx="1527048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42" name="Text 40"/>
          <p:cNvSpPr/>
          <p:nvPr/>
        </p:nvSpPr>
        <p:spPr>
          <a:xfrm>
            <a:off x="8476488" y="3712464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58952" y="4005072"/>
            <a:ext cx="4572000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44" name="Text 42"/>
          <p:cNvSpPr/>
          <p:nvPr/>
        </p:nvSpPr>
        <p:spPr>
          <a:xfrm>
            <a:off x="850392" y="4005072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`行内代码`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30952" y="4005072"/>
            <a:ext cx="3044952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46" name="Text 44"/>
          <p:cNvSpPr/>
          <p:nvPr/>
        </p:nvSpPr>
        <p:spPr>
          <a:xfrm>
            <a:off x="5422392" y="4005072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行内代码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385048" y="4005072"/>
            <a:ext cx="1527048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48" name="Text 46"/>
          <p:cNvSpPr/>
          <p:nvPr/>
        </p:nvSpPr>
        <p:spPr>
          <a:xfrm>
            <a:off x="8476488" y="4005072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8952" y="4297680"/>
            <a:ext cx="4572000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50" name="Text 48"/>
          <p:cNvSpPr/>
          <p:nvPr/>
        </p:nvSpPr>
        <p:spPr>
          <a:xfrm>
            <a:off x="850392" y="429768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```代码块```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30952" y="4297680"/>
            <a:ext cx="3044952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52" name="Text 50"/>
          <p:cNvSpPr/>
          <p:nvPr/>
        </p:nvSpPr>
        <p:spPr>
          <a:xfrm>
            <a:off x="5422392" y="4297680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围栏代码块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385048" y="4297680"/>
            <a:ext cx="1527048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54" name="Text 52"/>
          <p:cNvSpPr/>
          <p:nvPr/>
        </p:nvSpPr>
        <p:spPr>
          <a:xfrm>
            <a:off x="8476488" y="4297680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8952" y="4590288"/>
            <a:ext cx="4572000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" y="459028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引用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30952" y="4590288"/>
            <a:ext cx="3044952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58" name="Text 56"/>
          <p:cNvSpPr/>
          <p:nvPr/>
        </p:nvSpPr>
        <p:spPr>
          <a:xfrm>
            <a:off x="5422392" y="4590288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引用块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385048" y="4590288"/>
            <a:ext cx="1527048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60" name="Text 58"/>
          <p:cNvSpPr/>
          <p:nvPr/>
        </p:nvSpPr>
        <p:spPr>
          <a:xfrm>
            <a:off x="8476488" y="4590288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58952" y="4882896"/>
            <a:ext cx="4572000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62" name="Text 60"/>
          <p:cNvSpPr/>
          <p:nvPr/>
        </p:nvSpPr>
        <p:spPr>
          <a:xfrm>
            <a:off x="850392" y="488289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无序列表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30952" y="4882896"/>
            <a:ext cx="3044952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4882896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无序列表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8385048" y="4882896"/>
            <a:ext cx="1527048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66" name="Text 64"/>
          <p:cNvSpPr/>
          <p:nvPr/>
        </p:nvSpPr>
        <p:spPr>
          <a:xfrm>
            <a:off x="8476488" y="4882896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8952" y="5175504"/>
            <a:ext cx="4572000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68" name="Text 66"/>
          <p:cNvSpPr/>
          <p:nvPr/>
        </p:nvSpPr>
        <p:spPr>
          <a:xfrm>
            <a:off x="850392" y="517550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有序列表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330952" y="5175504"/>
            <a:ext cx="3044952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70" name="Text 68"/>
          <p:cNvSpPr/>
          <p:nvPr/>
        </p:nvSpPr>
        <p:spPr>
          <a:xfrm>
            <a:off x="5422392" y="5175504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有序列表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385048" y="5175504"/>
            <a:ext cx="1527048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72" name="Text 70"/>
          <p:cNvSpPr/>
          <p:nvPr/>
        </p:nvSpPr>
        <p:spPr>
          <a:xfrm>
            <a:off x="8476488" y="5175504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58952" y="5468112"/>
            <a:ext cx="4572000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74" name="Text 72"/>
          <p:cNvSpPr/>
          <p:nvPr/>
        </p:nvSpPr>
        <p:spPr>
          <a:xfrm>
            <a:off x="850392" y="5468112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[链接](url)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330952" y="5468112"/>
            <a:ext cx="3044952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76" name="Text 74"/>
          <p:cNvSpPr/>
          <p:nvPr/>
        </p:nvSpPr>
        <p:spPr>
          <a:xfrm>
            <a:off x="5422392" y="5468112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链接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8385048" y="5468112"/>
            <a:ext cx="1527048" cy="292608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78" name="Text 76"/>
          <p:cNvSpPr/>
          <p:nvPr/>
        </p:nvSpPr>
        <p:spPr>
          <a:xfrm>
            <a:off x="8476488" y="5468112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58952" y="5760720"/>
            <a:ext cx="4572000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80" name="Text 78"/>
          <p:cNvSpPr/>
          <p:nvPr/>
        </p:nvSpPr>
        <p:spPr>
          <a:xfrm>
            <a:off x="850392" y="576072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分割线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330952" y="5760720"/>
            <a:ext cx="3044952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82" name="Text 80"/>
          <p:cNvSpPr/>
          <p:nvPr/>
        </p:nvSpPr>
        <p:spPr>
          <a:xfrm>
            <a:off x="5422392" y="5760720"/>
            <a:ext cx="2862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水平线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385048" y="5760720"/>
            <a:ext cx="1527048" cy="292608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84" name="Text 82"/>
          <p:cNvSpPr/>
          <p:nvPr/>
        </p:nvSpPr>
        <p:spPr>
          <a:xfrm>
            <a:off x="8476488" y="5760720"/>
            <a:ext cx="1344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758952" y="6126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约300行 TypeScript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3657600" y="6126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零外部依赖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6556248" y="6126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10种块级元素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 &amp; NATIVE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主进程负责文件系统和原生菜单，渲染进程专注UI。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58952" y="1691640"/>
            <a:ext cx="5330952" cy="4114800"/>
          </a:xfrm>
          <a:prstGeom prst="roundRect">
            <a:avLst>
              <a:gd name="adj" fmla="val 1333"/>
            </a:avLst>
          </a:prstGeom>
          <a:solidFill>
            <a:srgbClr val="1A1A2E"/>
          </a:solidFill>
          <a:ln w="6350">
            <a:solidFill>
              <a:srgbClr val="E0DC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737360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Process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59536" y="205740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21945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🪟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25296" y="213055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 Management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235000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BrowserWindow 创建与生命周期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59536" y="283464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971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25296" y="290779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Menus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25296" y="312724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应用菜单 + 上下文菜单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59536" y="361188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749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25296" y="368503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25296" y="390448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从 .md 文件导入笔记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59536" y="438912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452628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25296" y="446227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Export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25296" y="468172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导出笔记为 .md 文件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516636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530352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25296" y="52395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 Handlers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25296" y="545896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ipcMain.handle() 处理请求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73952" y="1691640"/>
            <a:ext cx="5330952" cy="4114800"/>
          </a:xfrm>
          <a:prstGeom prst="roundRect">
            <a:avLst>
              <a:gd name="adj" fmla="val 1333"/>
            </a:avLst>
          </a:prstGeom>
          <a:solidFill>
            <a:srgbClr val="4A7C96"/>
          </a:solidFill>
          <a:ln w="6350">
            <a:solidFill>
              <a:srgbClr val="E0DC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65392" y="1737360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Renderer Process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74536" y="205740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21945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40296" y="213055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App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0296" y="235000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组件树挂载到 DOM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574536" y="283464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65976" y="2971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📝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40296" y="290779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 Component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0296" y="312724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编辑与渲染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74536" y="361188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5976" y="3749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🔄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0296" y="368503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Management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40296" y="390448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useReducer + Context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74536" y="438912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65976" y="452628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💾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296" y="446227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localStorage Persistence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0296" y="468172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自动保存笔记内容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574536" y="5166360"/>
            <a:ext cx="2852928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E8E3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5976" y="530352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📡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940296" y="52395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 Invokers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940296" y="545896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ipcRenderer.invoke() 调用主进程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43600" y="3200400"/>
            <a:ext cx="758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4A7C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←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743200" y="6035040"/>
            <a:ext cx="2286000" cy="292608"/>
          </a:xfrm>
          <a:prstGeom prst="roundRect">
            <a:avLst>
              <a:gd name="adj" fmla="val 12500"/>
            </a:avLst>
          </a:prstGeom>
          <a:solidFill>
            <a:srgbClr val="E07B5A"/>
          </a:solidFill>
          <a:ln/>
        </p:spPr>
      </p:sp>
      <p:sp>
        <p:nvSpPr>
          <p:cNvPr id="50" name="Text 48"/>
          <p:cNvSpPr/>
          <p:nvPr/>
        </p:nvSpPr>
        <p:spPr>
          <a:xfrm>
            <a:off x="2743200" y="60350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dialogs:openFile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858000" y="6035040"/>
            <a:ext cx="2286000" cy="292608"/>
          </a:xfrm>
          <a:prstGeom prst="roundRect">
            <a:avLst>
              <a:gd name="adj" fmla="val 12500"/>
            </a:avLst>
          </a:prstGeom>
          <a:solidFill>
            <a:srgbClr val="E07B5A"/>
          </a:solidFill>
          <a:ln/>
        </p:spPr>
      </p:sp>
      <p:sp>
        <p:nvSpPr>
          <p:cNvPr id="52" name="Text 50"/>
          <p:cNvSpPr/>
          <p:nvPr/>
        </p:nvSpPr>
        <p:spPr>
          <a:xfrm>
            <a:off x="6858000" y="60350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file:exportNote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566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7B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686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+ Testing Library 覆盖核心模块和组件行为。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58952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测试架构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" y="2057400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4A7C96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05740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单元测试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" y="2423160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423160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formatters.test.ts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" y="2752344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2752344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notes.test.ts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8952" y="3081528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12" name="Text 10"/>
          <p:cNvSpPr/>
          <p:nvPr/>
        </p:nvSpPr>
        <p:spPr>
          <a:xfrm>
            <a:off x="758952" y="3081528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test-runner.test.ts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87952" y="2057400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E0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4187952" y="205740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组件测试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87952" y="2423160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16" name="Text 14"/>
          <p:cNvSpPr/>
          <p:nvPr/>
        </p:nvSpPr>
        <p:spPr>
          <a:xfrm>
            <a:off x="4187952" y="2423160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components/__tests__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16952" y="2057400"/>
            <a:ext cx="3044952" cy="365760"/>
          </a:xfrm>
          <a:prstGeom prst="roundRect">
            <a:avLst>
              <a:gd name="adj" fmla="val 10000"/>
            </a:avLst>
          </a:prstGeom>
          <a:solidFill>
            <a:srgbClr val="8B9D83"/>
          </a:solidFill>
          <a:ln/>
        </p:spPr>
      </p:sp>
      <p:sp>
        <p:nvSpPr>
          <p:cNvPr id="18" name="Text 16"/>
          <p:cNvSpPr/>
          <p:nvPr/>
        </p:nvSpPr>
        <p:spPr>
          <a:xfrm>
            <a:off x="7616952" y="205740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测试基础设施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16952" y="2423160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16952" y="2423160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setup.ts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16952" y="2752344"/>
            <a:ext cx="3044952" cy="329184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/>
        </p:spPr>
      </p:sp>
      <p:sp>
        <p:nvSpPr>
          <p:cNvPr id="22" name="Text 20"/>
          <p:cNvSpPr/>
          <p:nvPr/>
        </p:nvSpPr>
        <p:spPr>
          <a:xfrm>
            <a:off x="7616952" y="2752344"/>
            <a:ext cx="3044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define-tests.ts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8952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核心测试覆盖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58952" y="3886200"/>
            <a:ext cx="1527048" cy="27432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3886200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模块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0" y="3886200"/>
            <a:ext cx="4956048" cy="27432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0" y="388620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测试用例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42048" y="3886200"/>
            <a:ext cx="1527048" cy="27432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29" name="Text 27"/>
          <p:cNvSpPr/>
          <p:nvPr/>
        </p:nvSpPr>
        <p:spPr>
          <a:xfrm>
            <a:off x="7242048" y="3886200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关注点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8952" y="4160520"/>
            <a:ext cx="1527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" y="4160520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C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0" y="4160520"/>
            <a:ext cx="4956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33" name="Text 31"/>
          <p:cNvSpPr/>
          <p:nvPr/>
        </p:nvSpPr>
        <p:spPr>
          <a:xfrm>
            <a:off x="2359152" y="4160520"/>
            <a:ext cx="4809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createNote / updateNote / deleteNote / findNote / getFilteredNotes / sortNotes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42048" y="4160520"/>
            <a:ext cx="1527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160520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纯函数正确性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58952" y="4471416"/>
            <a:ext cx="1527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7" name="Text 35"/>
          <p:cNvSpPr/>
          <p:nvPr/>
        </p:nvSpPr>
        <p:spPr>
          <a:xfrm>
            <a:off x="832104" y="4471416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C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formatters.ts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4471416"/>
            <a:ext cx="4956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9" name="Text 37"/>
          <p:cNvSpPr/>
          <p:nvPr/>
        </p:nvSpPr>
        <p:spPr>
          <a:xfrm>
            <a:off x="2359152" y="4471416"/>
            <a:ext cx="4809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日期格式化 / 文本截断 / 字符计数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242048" y="4471416"/>
            <a:ext cx="1527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4471416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边界情况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58952" y="4782312"/>
            <a:ext cx="1527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43" name="Text 41"/>
          <p:cNvSpPr/>
          <p:nvPr/>
        </p:nvSpPr>
        <p:spPr>
          <a:xfrm>
            <a:off x="832104" y="4782312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C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test-runner.ts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286000" y="4782312"/>
            <a:ext cx="4956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45" name="Text 43"/>
          <p:cNvSpPr/>
          <p:nvPr/>
        </p:nvSpPr>
        <p:spPr>
          <a:xfrm>
            <a:off x="2359152" y="4782312"/>
            <a:ext cx="4809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测试套件执行 / 结果收集 / 状态报告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242048" y="4782312"/>
            <a:ext cx="1527048" cy="310896"/>
          </a:xfrm>
          <a:prstGeom prst="rect">
            <a:avLst/>
          </a:prstGeom>
          <a:solidFill>
            <a:srgbClr val="F0EDE8"/>
          </a:solidFill>
          <a:ln/>
        </p:spPr>
      </p:sp>
      <p:sp>
        <p:nvSpPr>
          <p:cNvPr id="47" name="Text 45"/>
          <p:cNvSpPr/>
          <p:nvPr/>
        </p:nvSpPr>
        <p:spPr>
          <a:xfrm>
            <a:off x="7315200" y="4782312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内置测试框架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8952" y="5093208"/>
            <a:ext cx="1527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49" name="Text 47"/>
          <p:cNvSpPr/>
          <p:nvPr/>
        </p:nvSpPr>
        <p:spPr>
          <a:xfrm>
            <a:off x="832104" y="5093208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C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组件测试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286000" y="5093208"/>
            <a:ext cx="4956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51" name="Text 49"/>
          <p:cNvSpPr/>
          <p:nvPr/>
        </p:nvSpPr>
        <p:spPr>
          <a:xfrm>
            <a:off x="2359152" y="5093208"/>
            <a:ext cx="4809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渲染验证 / 用户交互 / 状态变化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242048" y="5093208"/>
            <a:ext cx="1527048" cy="310896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53" name="Text 51"/>
          <p:cNvSpPr/>
          <p:nvPr/>
        </p:nvSpPr>
        <p:spPr>
          <a:xfrm>
            <a:off x="7315200" y="5093208"/>
            <a:ext cx="1380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行为驱动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952" y="56235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测试工具链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58952" y="5943600"/>
            <a:ext cx="2377440" cy="347472"/>
          </a:xfrm>
          <a:prstGeom prst="roundRect">
            <a:avLst>
              <a:gd name="adj" fmla="val 10526"/>
            </a:avLst>
          </a:prstGeom>
          <a:solidFill>
            <a:srgbClr val="4A7C96"/>
          </a:solidFill>
          <a:ln/>
        </p:spPr>
      </p:sp>
      <p:sp>
        <p:nvSpPr>
          <p:cNvPr id="56" name="Text 54"/>
          <p:cNvSpPr/>
          <p:nvPr/>
        </p:nvSpPr>
        <p:spPr>
          <a:xfrm>
            <a:off x="758952" y="5943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952" y="614476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测试运行器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328416" y="5943600"/>
            <a:ext cx="2377440" cy="347472"/>
          </a:xfrm>
          <a:prstGeom prst="roundRect">
            <a:avLst>
              <a:gd name="adj" fmla="val 10526"/>
            </a:avLst>
          </a:prstGeom>
          <a:solidFill>
            <a:srgbClr val="E07B5A"/>
          </a:solidFill>
          <a:ln/>
        </p:spPr>
      </p:sp>
      <p:sp>
        <p:nvSpPr>
          <p:cNvPr id="59" name="Text 57"/>
          <p:cNvSpPr/>
          <p:nvPr/>
        </p:nvSpPr>
        <p:spPr>
          <a:xfrm>
            <a:off x="3328416" y="5943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 Library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328416" y="614476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组件渲染 &amp; 查询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897880" y="5943600"/>
            <a:ext cx="2377440" cy="347472"/>
          </a:xfrm>
          <a:prstGeom prst="roundRect">
            <a:avLst>
              <a:gd name="adj" fmla="val 10526"/>
            </a:avLst>
          </a:prstGeom>
          <a:solidFill>
            <a:srgbClr val="8B9D83"/>
          </a:solidFill>
          <a:ln/>
        </p:spPr>
      </p:sp>
      <p:sp>
        <p:nvSpPr>
          <p:cNvPr id="62" name="Text 60"/>
          <p:cNvSpPr/>
          <p:nvPr/>
        </p:nvSpPr>
        <p:spPr>
          <a:xfrm>
            <a:off x="5897880" y="5943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jsdom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897880" y="614476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浏览器环境模拟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8467344" y="5943600"/>
            <a:ext cx="2377440" cy="347472"/>
          </a:xfrm>
          <a:prstGeom prst="roundRect">
            <a:avLst>
              <a:gd name="adj" fmla="val 10526"/>
            </a:avLst>
          </a:prstGeom>
          <a:solidFill>
            <a:srgbClr val="6B6B80"/>
          </a:solidFill>
          <a:ln/>
        </p:spPr>
      </p:sp>
      <p:sp>
        <p:nvSpPr>
          <p:cNvPr id="65" name="Text 63"/>
          <p:cNvSpPr/>
          <p:nvPr/>
        </p:nvSpPr>
        <p:spPr>
          <a:xfrm>
            <a:off x="8467344" y="5943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user-event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467344" y="614476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用户交互模拟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58952" y="6473952"/>
            <a:ext cx="18288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笔记 · Notes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1430000" y="6473952"/>
            <a:ext cx="38404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E9E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685</Words>
  <Application>Microsoft Office PowerPoint</Application>
  <PresentationFormat>宽屏</PresentationFormat>
  <Paragraphs>288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Arial</vt:lpstr>
      <vt:lpstr>Consolas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zook chen</cp:lastModifiedBy>
  <cp:revision>2</cp:revision>
  <dcterms:created xsi:type="dcterms:W3CDTF">2026-06-10T15:05:43Z</dcterms:created>
  <dcterms:modified xsi:type="dcterms:W3CDTF">2026-06-10T15:11:48Z</dcterms:modified>
</cp:coreProperties>
</file>