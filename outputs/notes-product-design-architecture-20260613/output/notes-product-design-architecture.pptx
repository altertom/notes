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A"/>
          </a:solidFill>
          <a:ln w="12700">
            <a:solidFill>
              <a:srgbClr val="1212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40680"/>
            <a:ext cx="12191695" cy="1417320"/>
          </a:xfrm>
          <a:prstGeom prst="rect">
            <a:avLst/>
          </a:prstGeom>
          <a:solidFill>
            <a:srgbClr val="1A1A2A">
              <a:alpha val="82000"/>
            </a:srgbClr>
          </a:solidFill>
          <a:ln w="12700">
            <a:solidFill>
              <a:srgbClr val="1A1A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987552"/>
            <a:ext cx="25603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49808" y="1700784"/>
            <a:ext cx="41148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B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产品设计与技术架构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2212848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C7C7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一个以“轻量、专注、本地优先”为核心的 Electron 桌面 Markdown 笔记客户端。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749808" y="3035808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242438"/>
          </a:solidFill>
          <a:ln w="10160">
            <a:solidFill>
              <a:srgbClr val="2424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3044952"/>
            <a:ext cx="1051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D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Electron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01952" y="3035808"/>
            <a:ext cx="1078992" cy="310896"/>
          </a:xfrm>
          <a:prstGeom prst="roundRect">
            <a:avLst>
              <a:gd name="adj" fmla="val 17647"/>
            </a:avLst>
          </a:prstGeom>
          <a:solidFill>
            <a:srgbClr val="242438"/>
          </a:solidFill>
          <a:ln w="10160">
            <a:solidFill>
              <a:srgbClr val="2424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01952" y="3044952"/>
            <a:ext cx="107899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D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18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90672" y="3035808"/>
            <a:ext cx="1298448" cy="310896"/>
          </a:xfrm>
          <a:prstGeom prst="roundRect">
            <a:avLst>
              <a:gd name="adj" fmla="val 17647"/>
            </a:avLst>
          </a:prstGeom>
          <a:solidFill>
            <a:srgbClr val="242438"/>
          </a:solidFill>
          <a:ln w="10160">
            <a:solidFill>
              <a:srgbClr val="2424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0672" y="3044952"/>
            <a:ext cx="129844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D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TypeScript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98848" y="3035808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242438"/>
          </a:solidFill>
          <a:ln w="10160">
            <a:solidFill>
              <a:srgbClr val="2424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8848" y="3044952"/>
            <a:ext cx="1234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D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89320" y="713232"/>
            <a:ext cx="571500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0160">
            <a:solidFill>
              <a:srgbClr val="F0E8D0"/>
            </a:solidFill>
            <a:prstDash val="solid"/>
          </a:ln>
        </p:spPr>
      </p:sp>
      <p:pic>
        <p:nvPicPr>
          <p:cNvPr id="16" name="Image 0" descr="D:\work\ai\Codex\notes\screenshot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5896" y="749808"/>
            <a:ext cx="5641848" cy="44074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49808" y="5989320"/>
            <a:ext cx="2377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77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/ 2026-06-13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 · Product Design &amp; Technical Architecture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7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6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A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产品定位：把日常记录压缩到最少路径。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389888"/>
            <a:ext cx="676656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6B65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笔记不是知识库巨舰，而是启动快、可离线、进入即写的桌面记录工具。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4709160" cy="658368"/>
          </a:xfrm>
          <a:prstGeom prst="roundRect">
            <a:avLst>
              <a:gd name="adj" fmla="val 8333"/>
            </a:avLst>
          </a:prstGeom>
          <a:solidFill>
            <a:srgbClr val="FFFDF7"/>
          </a:solidFill>
          <a:ln w="10160">
            <a:solidFill>
              <a:srgbClr val="F0E8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258568"/>
            <a:ext cx="1097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A6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1965960" y="2240280"/>
            <a:ext cx="31546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83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需要快速记录想法、会议纪要、代码片段和待办的人。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658368" y="3108960"/>
            <a:ext cx="4709160" cy="658368"/>
          </a:xfrm>
          <a:prstGeom prst="roundRect">
            <a:avLst>
              <a:gd name="adj" fmla="val 8333"/>
            </a:avLst>
          </a:prstGeom>
          <a:solidFill>
            <a:srgbClr val="FDF0D5"/>
          </a:solidFill>
          <a:ln w="10160">
            <a:solidFill>
              <a:srgbClr val="F0E8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3218688"/>
            <a:ext cx="1097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A6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1965960" y="3200400"/>
            <a:ext cx="31546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83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以本地优先的方式保存文本资产，降低“写之前先整理”的摩擦。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658368" y="4069080"/>
            <a:ext cx="4709160" cy="658368"/>
          </a:xfrm>
          <a:prstGeom prst="roundRect">
            <a:avLst>
              <a:gd name="adj" fmla="val 8333"/>
            </a:avLst>
          </a:prstGeom>
          <a:solidFill>
            <a:srgbClr val="FFFDF7"/>
          </a:solidFill>
          <a:ln w="10160">
            <a:solidFill>
              <a:srgbClr val="F0E8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4178808"/>
            <a:ext cx="1097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A6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1965960" y="4160520"/>
            <a:ext cx="31546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83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清晰层级、低打扰、键盘友好、编辑与预览随时切换。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5897880" y="1691640"/>
            <a:ext cx="5440680" cy="3429000"/>
          </a:xfrm>
          <a:prstGeom prst="roundRect">
            <a:avLst>
              <a:gd name="adj" fmla="val 2133"/>
            </a:avLst>
          </a:prstGeom>
          <a:solidFill>
            <a:srgbClr val="FFFDF7"/>
          </a:solidFill>
          <a:ln w="10160">
            <a:solidFill>
              <a:srgbClr val="F0E8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93852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核心信息架构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36208" y="2423160"/>
            <a:ext cx="1965960" cy="530352"/>
          </a:xfrm>
          <a:prstGeom prst="roundRect">
            <a:avLst>
              <a:gd name="adj" fmla="val 6897"/>
            </a:avLst>
          </a:prstGeom>
          <a:solidFill>
            <a:srgbClr val="FEF9E7"/>
          </a:solidFill>
          <a:ln w="10160">
            <a:solidFill>
              <a:srgbClr val="F0E8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2496312"/>
            <a:ext cx="1965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搜索/选择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36208" y="2706624"/>
            <a:ext cx="196596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B65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定位已有内容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567928" y="2423160"/>
            <a:ext cx="1965960" cy="530352"/>
          </a:xfrm>
          <a:prstGeom prst="roundRect">
            <a:avLst>
              <a:gd name="adj" fmla="val 6897"/>
            </a:avLst>
          </a:prstGeom>
          <a:solidFill>
            <a:srgbClr val="FDF0D5"/>
          </a:solidFill>
          <a:ln w="10160">
            <a:solidFill>
              <a:srgbClr val="F0E8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67928" y="2496312"/>
            <a:ext cx="1965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新建/编辑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67928" y="2706624"/>
            <a:ext cx="196596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B65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快速捕捉信息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6236208" y="3429000"/>
            <a:ext cx="1965960" cy="530352"/>
          </a:xfrm>
          <a:prstGeom prst="roundRect">
            <a:avLst>
              <a:gd name="adj" fmla="val 6897"/>
            </a:avLst>
          </a:prstGeom>
          <a:solidFill>
            <a:srgbClr val="FEF9E7"/>
          </a:solidFill>
          <a:ln w="10160">
            <a:solidFill>
              <a:srgbClr val="F0E8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3502152"/>
            <a:ext cx="1965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预览/阅读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36208" y="3712464"/>
            <a:ext cx="196596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B65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校验结构与排版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8567928" y="3429000"/>
            <a:ext cx="1965960" cy="530352"/>
          </a:xfrm>
          <a:prstGeom prst="roundRect">
            <a:avLst>
              <a:gd name="adj" fmla="val 6897"/>
            </a:avLst>
          </a:prstGeom>
          <a:solidFill>
            <a:srgbClr val="FDF0D5"/>
          </a:solidFill>
          <a:ln w="10160">
            <a:solidFill>
              <a:srgbClr val="F0E8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67928" y="3502152"/>
            <a:ext cx="1965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删除/导出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67928" y="3712464"/>
            <a:ext cx="196596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B65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管理生命周期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8211312" y="2542032"/>
            <a:ext cx="4114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09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211312" y="3547872"/>
            <a:ext cx="4114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09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172200" y="4617720"/>
            <a:ext cx="48006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B65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设计判断：只在主界面保留高频动作，让工作流围绕“找到笔记 → 写下内容 → 随时预览”展开。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8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 · Product Design &amp; Technical Architecture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9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6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A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双栏界面：导航和编辑分离，主任务始终在中央。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6766560" cy="41148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0160">
            <a:solidFill>
              <a:srgbClr val="F0E8D0"/>
            </a:solidFill>
            <a:prstDash val="solid"/>
          </a:ln>
        </p:spPr>
      </p:sp>
      <p:pic>
        <p:nvPicPr>
          <p:cNvPr id="5" name="Image 0" descr="D:\work\ai\Codex\notes\screenshot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453896"/>
            <a:ext cx="6693408" cy="40416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09560" y="1719072"/>
            <a:ext cx="82296" cy="82296"/>
          </a:xfrm>
          <a:prstGeom prst="ellipse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4152" y="1645920"/>
            <a:ext cx="2834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侧边栏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074152" y="1874520"/>
            <a:ext cx="2971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B65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搜索、列表、新建、主题切换聚合在左侧。</a:t>
            </a:r>
            <a:endParaRPr lang="en-US" sz="930" dirty="0"/>
          </a:p>
        </p:txBody>
      </p:sp>
      <p:sp>
        <p:nvSpPr>
          <p:cNvPr id="9" name="Shape 6"/>
          <p:cNvSpPr/>
          <p:nvPr/>
        </p:nvSpPr>
        <p:spPr>
          <a:xfrm>
            <a:off x="7909560" y="2523744"/>
            <a:ext cx="82296" cy="82296"/>
          </a:xfrm>
          <a:prstGeom prst="ellipse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74152" y="2450592"/>
            <a:ext cx="2834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编辑器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074152" y="2679192"/>
            <a:ext cx="2971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B65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标题、正文、编辑/预览模式集中在右侧。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7909560" y="3328416"/>
            <a:ext cx="82296" cy="82296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74152" y="3255264"/>
            <a:ext cx="2834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状态栏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074152" y="3483864"/>
            <a:ext cx="2971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B65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最后修改时间、字数、删除入口固定在底部。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>
            <a:off x="7909560" y="4133088"/>
            <a:ext cx="82296" cy="82296"/>
          </a:xfrm>
          <a:prstGeom prst="ellipse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74152" y="4059936"/>
            <a:ext cx="2834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低学习成本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074152" y="4288536"/>
            <a:ext cx="2971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B65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桌面软件常见布局，打开即可理解。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7754112" y="5138928"/>
            <a:ext cx="3611880" cy="621792"/>
          </a:xfrm>
          <a:prstGeom prst="roundRect">
            <a:avLst>
              <a:gd name="adj" fmla="val 8824"/>
            </a:avLst>
          </a:prstGeom>
          <a:solidFill>
            <a:srgbClr val="FDF0D5"/>
          </a:solidFill>
          <a:ln w="10160">
            <a:solidFill>
              <a:srgbClr val="F0E8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55280" y="5257800"/>
            <a:ext cx="9144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A6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交互节奏</a:t>
            </a:r>
            <a:endParaRPr lang="en-US" sz="1030" dirty="0"/>
          </a:p>
        </p:txBody>
      </p:sp>
      <p:sp>
        <p:nvSpPr>
          <p:cNvPr id="20" name="Text 17"/>
          <p:cNvSpPr/>
          <p:nvPr/>
        </p:nvSpPr>
        <p:spPr>
          <a:xfrm>
            <a:off x="8732520" y="5239512"/>
            <a:ext cx="23774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83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左侧负责上下文，右侧负责深度输入，减少视线跳转。</a:t>
            </a:r>
            <a:endParaRPr lang="en-US" sz="920" dirty="0"/>
          </a:p>
        </p:txBody>
      </p:sp>
      <p:sp>
        <p:nvSpPr>
          <p:cNvPr id="21" name="Text 18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8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 · Product Design &amp; Technical Architecture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9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6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SYSTEM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A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明暗双主题基于 CSS 变量，视觉系统轻而可控。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21792" y="1417320"/>
            <a:ext cx="498348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0160">
            <a:solidFill>
              <a:srgbClr val="F0E8D0"/>
            </a:solidFill>
            <a:prstDash val="solid"/>
          </a:ln>
        </p:spPr>
      </p:sp>
      <p:pic>
        <p:nvPicPr>
          <p:cNvPr id="5" name="Image 0" descr="D:\work\ai\Codex\notes\screenshot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53896"/>
            <a:ext cx="4910328" cy="2944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36208" y="1417320"/>
            <a:ext cx="498348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0160">
            <a:solidFill>
              <a:srgbClr val="F0E8D0"/>
            </a:solidFill>
            <a:prstDash val="solid"/>
          </a:ln>
        </p:spPr>
      </p:sp>
      <p:pic>
        <p:nvPicPr>
          <p:cNvPr id="7" name="Image 1" descr="D:\work\ai\Codex\notes\screenshot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1453896"/>
            <a:ext cx="4910328" cy="29443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2688" y="4590288"/>
            <a:ext cx="32004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Light：暖底色适合长时间写作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537960" y="4590288"/>
            <a:ext cx="32461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Dark：低亮度界面服务夜间记录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777240" y="5486400"/>
            <a:ext cx="310896" cy="219456"/>
          </a:xfrm>
          <a:prstGeom prst="roundRect">
            <a:avLst>
              <a:gd name="adj" fmla="val 12500"/>
            </a:avLst>
          </a:prstGeom>
          <a:solidFill>
            <a:srgbClr val="FEF9E7"/>
          </a:solidFill>
          <a:ln w="6350">
            <a:solidFill>
              <a:srgbClr val="F0E8D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161288" y="5477256"/>
            <a:ext cx="109728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B6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--bg</a:t>
            </a:r>
            <a:endParaRPr lang="en-US" sz="780" dirty="0"/>
          </a:p>
        </p:txBody>
      </p:sp>
      <p:sp>
        <p:nvSpPr>
          <p:cNvPr id="12" name="Text 8"/>
          <p:cNvSpPr/>
          <p:nvPr/>
        </p:nvSpPr>
        <p:spPr>
          <a:xfrm>
            <a:off x="1161288" y="5623560"/>
            <a:ext cx="10972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09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#FEF9E7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2560320" y="5486400"/>
            <a:ext cx="310896" cy="219456"/>
          </a:xfrm>
          <a:prstGeom prst="roundRect">
            <a:avLst>
              <a:gd name="adj" fmla="val 12500"/>
            </a:avLst>
          </a:prstGeom>
          <a:solidFill>
            <a:srgbClr val="FFFDF7"/>
          </a:solidFill>
          <a:ln w="6350">
            <a:solidFill>
              <a:srgbClr val="F0E8D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944368" y="5477256"/>
            <a:ext cx="109728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B6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--surface</a:t>
            </a:r>
            <a:endParaRPr lang="en-US" sz="780" dirty="0"/>
          </a:p>
        </p:txBody>
      </p:sp>
      <p:sp>
        <p:nvSpPr>
          <p:cNvPr id="15" name="Text 11"/>
          <p:cNvSpPr/>
          <p:nvPr/>
        </p:nvSpPr>
        <p:spPr>
          <a:xfrm>
            <a:off x="2944368" y="5623560"/>
            <a:ext cx="10972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09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#FFFDF7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4343400" y="5486400"/>
            <a:ext cx="310896" cy="219456"/>
          </a:xfrm>
          <a:prstGeom prst="roundRect">
            <a:avLst>
              <a:gd name="adj" fmla="val 12500"/>
            </a:avLst>
          </a:prstGeom>
          <a:solidFill>
            <a:srgbClr val="C8960C"/>
          </a:solidFill>
          <a:ln w="6350">
            <a:solidFill>
              <a:srgbClr val="F0E8D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27448" y="5477256"/>
            <a:ext cx="109728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B6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--accent</a:t>
            </a:r>
            <a:endParaRPr lang="en-US" sz="780" dirty="0"/>
          </a:p>
        </p:txBody>
      </p:sp>
      <p:sp>
        <p:nvSpPr>
          <p:cNvPr id="18" name="Text 14"/>
          <p:cNvSpPr/>
          <p:nvPr/>
        </p:nvSpPr>
        <p:spPr>
          <a:xfrm>
            <a:off x="4727448" y="5623560"/>
            <a:ext cx="10972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09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#C8960C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126480" y="5486400"/>
            <a:ext cx="310896" cy="219456"/>
          </a:xfrm>
          <a:prstGeom prst="roundRect">
            <a:avLst>
              <a:gd name="adj" fmla="val 12500"/>
            </a:avLst>
          </a:prstGeom>
          <a:solidFill>
            <a:srgbClr val="12121A"/>
          </a:solidFill>
          <a:ln w="6350">
            <a:solidFill>
              <a:srgbClr val="F0E8D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510528" y="5477256"/>
            <a:ext cx="109728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B6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--dark-bg</a:t>
            </a:r>
            <a:endParaRPr lang="en-US" sz="780" dirty="0"/>
          </a:p>
        </p:txBody>
      </p:sp>
      <p:sp>
        <p:nvSpPr>
          <p:cNvPr id="21" name="Text 17"/>
          <p:cNvSpPr/>
          <p:nvPr/>
        </p:nvSpPr>
        <p:spPr>
          <a:xfrm>
            <a:off x="6510528" y="5623560"/>
            <a:ext cx="10972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09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#12121A</a:t>
            </a:r>
            <a:endParaRPr lang="en-US" sz="750" dirty="0"/>
          </a:p>
        </p:txBody>
      </p:sp>
      <p:sp>
        <p:nvSpPr>
          <p:cNvPr id="22" name="Shape 18"/>
          <p:cNvSpPr/>
          <p:nvPr/>
        </p:nvSpPr>
        <p:spPr>
          <a:xfrm>
            <a:off x="7909560" y="5486400"/>
            <a:ext cx="310896" cy="219456"/>
          </a:xfrm>
          <a:prstGeom prst="roundRect">
            <a:avLst>
              <a:gd name="adj" fmla="val 12500"/>
            </a:avLst>
          </a:prstGeom>
          <a:solidFill>
            <a:srgbClr val="1A1A2A"/>
          </a:solidFill>
          <a:ln w="6350">
            <a:solidFill>
              <a:srgbClr val="F0E8D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293608" y="5477256"/>
            <a:ext cx="109728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B6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--dark-surface</a:t>
            </a:r>
            <a:endParaRPr lang="en-US" sz="780" dirty="0"/>
          </a:p>
        </p:txBody>
      </p:sp>
      <p:sp>
        <p:nvSpPr>
          <p:cNvPr id="24" name="Text 20"/>
          <p:cNvSpPr/>
          <p:nvPr/>
        </p:nvSpPr>
        <p:spPr>
          <a:xfrm>
            <a:off x="8293608" y="5623560"/>
            <a:ext cx="10972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09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#1A1A2A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9692640" y="5486400"/>
            <a:ext cx="310896" cy="219456"/>
          </a:xfrm>
          <a:prstGeom prst="roundRect">
            <a:avLst>
              <a:gd name="adj" fmla="val 12500"/>
            </a:avLst>
          </a:prstGeom>
          <a:solidFill>
            <a:srgbClr val="D93025"/>
          </a:solidFill>
          <a:ln w="6350">
            <a:solidFill>
              <a:srgbClr val="F0E8D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0076688" y="5477256"/>
            <a:ext cx="109728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B6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--danger</a:t>
            </a:r>
            <a:endParaRPr lang="en-US" sz="780" dirty="0"/>
          </a:p>
        </p:txBody>
      </p:sp>
      <p:sp>
        <p:nvSpPr>
          <p:cNvPr id="27" name="Text 23"/>
          <p:cNvSpPr/>
          <p:nvPr/>
        </p:nvSpPr>
        <p:spPr>
          <a:xfrm>
            <a:off x="10076688" y="5623560"/>
            <a:ext cx="10972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09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#D93025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8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 · Product Design &amp; Technical Architecture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9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6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EDITING EXPERIENCE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A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编辑/预览双模式：写作时即时反馈，阅读时回到排版结果。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6400800" cy="4297680"/>
          </a:xfrm>
          <a:prstGeom prst="roundRect">
            <a:avLst>
              <a:gd name="adj" fmla="val 1702"/>
            </a:avLst>
          </a:prstGeom>
          <a:solidFill>
            <a:srgbClr val="FFFDF7"/>
          </a:solidFill>
          <a:ln w="10160">
            <a:solidFill>
              <a:srgbClr val="F0E8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会议纪要：产品评审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532120" y="1755648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C8960C"/>
          </a:solidFill>
          <a:ln w="10160">
            <a:solidFill>
              <a:srgbClr val="C896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32120" y="1764792"/>
            <a:ext cx="65836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45352" y="1755648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FDF0D5"/>
          </a:solidFill>
          <a:ln w="10160">
            <a:solidFill>
              <a:srgbClr val="FDF0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45352" y="1764792"/>
            <a:ext cx="65836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5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60120" y="2423160"/>
            <a:ext cx="5806440" cy="2331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83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 今日重点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83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明确 MVP：本地笔记 + 搜索 + 主题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83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技术栈：`Electron` + `React`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83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下一步：补齐导入事件处理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83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原则：快速记录优先，结构化之后再发生。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5321808"/>
            <a:ext cx="1828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98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最后修改：刚刚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532120" y="5321808"/>
            <a:ext cx="7315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098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 字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281928" y="5321808"/>
            <a:ext cx="5943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93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删除笔记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607808" y="1737360"/>
            <a:ext cx="82296" cy="82296"/>
          </a:xfrm>
          <a:prstGeom prst="ellipse">
            <a:avLst/>
          </a:prstGeom>
          <a:solidFill>
            <a:srgbClr val="188038"/>
          </a:solidFill>
          <a:ln w="12700">
            <a:solidFill>
              <a:srgbClr val="1880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1664208"/>
            <a:ext cx="2834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500ms 延迟保存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0" y="1892808"/>
            <a:ext cx="2971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B65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输入过程中减少频繁状态写入，停止输入后同步到全局状态。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7607808" y="2578608"/>
            <a:ext cx="82296" cy="82296"/>
          </a:xfrm>
          <a:prstGeom prst="ellipse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2505456"/>
            <a:ext cx="2834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 高亮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0" y="2734056"/>
            <a:ext cx="2971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B65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编辑模式用 overlay 高亮语法，textarea 保留原生输入体验。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7607808" y="3419856"/>
            <a:ext cx="82296" cy="82296"/>
          </a:xfrm>
          <a:prstGeom prst="ellipse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3346704"/>
            <a:ext cx="2834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 预览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772400" y="3575304"/>
            <a:ext cx="2971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B65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预览模式通过 renderMarkdown 输出结构化 HTML。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7607808" y="4261104"/>
            <a:ext cx="82296" cy="82296"/>
          </a:xfrm>
          <a:prstGeom prst="ellipse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4187952"/>
            <a:ext cx="2834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字数与时间反馈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772400" y="4416552"/>
            <a:ext cx="2971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B65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StatusBar 提供轻量上下文，不打断写作。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8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 · Product Design &amp; Technical Architecture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9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6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A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架构分层：Electron 外壳、React 渲染层、领域纯函数三段式。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14400" y="1481328"/>
            <a:ext cx="10012680" cy="512064"/>
          </a:xfrm>
          <a:prstGeom prst="roundRect">
            <a:avLst>
              <a:gd name="adj" fmla="val 8929"/>
            </a:avLst>
          </a:prstGeom>
          <a:solidFill>
            <a:srgbClr val="12121A"/>
          </a:solidFill>
          <a:ln w="10160">
            <a:solidFill>
              <a:srgbClr val="1212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563624"/>
            <a:ext cx="2011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Electron Main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3154680" y="1563624"/>
            <a:ext cx="7406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F3F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窗口生命周期 · 原生菜单 · 文件对话框 · IPC handler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806440" y="2011680"/>
            <a:ext cx="182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09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322576"/>
            <a:ext cx="10012680" cy="512064"/>
          </a:xfrm>
          <a:prstGeom prst="roundRect">
            <a:avLst>
              <a:gd name="adj" fmla="val 8929"/>
            </a:avLst>
          </a:prstGeom>
          <a:solidFill>
            <a:srgbClr val="C8960C"/>
          </a:solidFill>
          <a:ln w="10160">
            <a:solidFill>
              <a:srgbClr val="C896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404872"/>
            <a:ext cx="2011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Preload Bridge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3154680" y="2404872"/>
            <a:ext cx="7406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F3F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contextBridge 暴露受控 API：onMenuAction / exportNote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806440" y="2852928"/>
            <a:ext cx="182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09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3163824"/>
            <a:ext cx="10012680" cy="512064"/>
          </a:xfrm>
          <a:prstGeom prst="roundRect">
            <a:avLst>
              <a:gd name="adj" fmla="val 8929"/>
            </a:avLst>
          </a:prstGeom>
          <a:solidFill>
            <a:srgbClr val="2563EB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246120"/>
            <a:ext cx="2011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Renderer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3154680" y="3246120"/>
            <a:ext cx="7406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F3F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Sidebar · Editor · TestPanel · Context/Reducer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5806440" y="3694176"/>
            <a:ext cx="182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09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4400" y="4005072"/>
            <a:ext cx="10012680" cy="512064"/>
          </a:xfrm>
          <a:prstGeom prst="roundRect">
            <a:avLst>
              <a:gd name="adj" fmla="val 8929"/>
            </a:avLst>
          </a:prstGeom>
          <a:solidFill>
            <a:srgbClr val="188038"/>
          </a:solidFill>
          <a:ln w="10160">
            <a:solidFill>
              <a:srgbClr val="1880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4087368"/>
            <a:ext cx="2011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Domain Libraries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3154680" y="4087368"/>
            <a:ext cx="7406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F3F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notes.ts · markdown.ts · formatters.ts · storage.ts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5806440" y="4535424"/>
            <a:ext cx="182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09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14400" y="4846320"/>
            <a:ext cx="10012680" cy="512064"/>
          </a:xfrm>
          <a:prstGeom prst="roundRect">
            <a:avLst>
              <a:gd name="adj" fmla="val 8929"/>
            </a:avLst>
          </a:prstGeom>
          <a:solidFill>
            <a:srgbClr val="FDF0D5"/>
          </a:solidFill>
          <a:ln w="10160">
            <a:solidFill>
              <a:srgbClr val="FDF0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4928616"/>
            <a:ext cx="2011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383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Browser Storage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3154680" y="4928616"/>
            <a:ext cx="7406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83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localStorage 保存笔记数组与主题偏好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987552" y="5989320"/>
            <a:ext cx="89611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6B65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设计收益：主进程只处理原生能力，渲染进程只处理 UI 与状态，领域逻辑保持可测试。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8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 · Product Design &amp; Technical Architecture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9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6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&amp; DATA 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A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useReducer + Context 让笔记状态集中、变化路径明确。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874520"/>
            <a:ext cx="1874520" cy="731520"/>
          </a:xfrm>
          <a:prstGeom prst="roundRect">
            <a:avLst>
              <a:gd name="adj" fmla="val 7500"/>
            </a:avLst>
          </a:prstGeom>
          <a:solidFill>
            <a:srgbClr val="FFFDF7"/>
          </a:solidFill>
          <a:ln w="10160">
            <a:solidFill>
              <a:srgbClr val="F0E8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93392"/>
            <a:ext cx="1645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A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用户操作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768096" y="2221992"/>
            <a:ext cx="1645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6B65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新建、编辑、删除、搜索、选择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2551176" y="2084832"/>
            <a:ext cx="4114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09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962656" y="1874520"/>
            <a:ext cx="1874520" cy="731520"/>
          </a:xfrm>
          <a:prstGeom prst="roundRect">
            <a:avLst>
              <a:gd name="adj" fmla="val 7500"/>
            </a:avLst>
          </a:prstGeom>
          <a:solidFill>
            <a:srgbClr val="FFFDF7"/>
          </a:solidFill>
          <a:ln w="10160">
            <a:solidFill>
              <a:srgbClr val="F0E8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72384" y="1993392"/>
            <a:ext cx="1645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A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Action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3072384" y="2221992"/>
            <a:ext cx="1645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6B65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ADD_NOTE / UPDATE_NOTE / DELETE_NOTE / SELECT_NOTE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4855464" y="2084832"/>
            <a:ext cx="4114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09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266944" y="1874520"/>
            <a:ext cx="1874520" cy="731520"/>
          </a:xfrm>
          <a:prstGeom prst="roundRect">
            <a:avLst>
              <a:gd name="adj" fmla="val 7500"/>
            </a:avLst>
          </a:prstGeom>
          <a:solidFill>
            <a:srgbClr val="C8960C"/>
          </a:solidFill>
          <a:ln w="10160">
            <a:solidFill>
              <a:srgbClr val="C896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76672" y="1993392"/>
            <a:ext cx="1645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notesReducer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5376672" y="2221992"/>
            <a:ext cx="1645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FFF7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生成新的 NotesState</a:t>
            </a:r>
            <a:endParaRPr lang="en-US" sz="770" dirty="0"/>
          </a:p>
        </p:txBody>
      </p:sp>
      <p:sp>
        <p:nvSpPr>
          <p:cNvPr id="15" name="Text 13"/>
          <p:cNvSpPr/>
          <p:nvPr/>
        </p:nvSpPr>
        <p:spPr>
          <a:xfrm>
            <a:off x="7159752" y="2084832"/>
            <a:ext cx="4114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09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571232" y="1874520"/>
            <a:ext cx="1874520" cy="731520"/>
          </a:xfrm>
          <a:prstGeom prst="roundRect">
            <a:avLst>
              <a:gd name="adj" fmla="val 7500"/>
            </a:avLst>
          </a:prstGeom>
          <a:solidFill>
            <a:srgbClr val="FFFDF7"/>
          </a:solidFill>
          <a:ln w="10160">
            <a:solidFill>
              <a:srgbClr val="F0E8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0" y="1993392"/>
            <a:ext cx="1645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A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UI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7680960" y="2221992"/>
            <a:ext cx="1645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6B65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Sidebar 与 Editor 重新渲染</a:t>
            </a:r>
            <a:endParaRPr lang="en-US" sz="770" dirty="0"/>
          </a:p>
        </p:txBody>
      </p:sp>
      <p:sp>
        <p:nvSpPr>
          <p:cNvPr id="19" name="Text 17"/>
          <p:cNvSpPr/>
          <p:nvPr/>
        </p:nvSpPr>
        <p:spPr>
          <a:xfrm>
            <a:off x="9464040" y="2084832"/>
            <a:ext cx="4114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09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875520" y="1874520"/>
            <a:ext cx="1874520" cy="731520"/>
          </a:xfrm>
          <a:prstGeom prst="roundRect">
            <a:avLst>
              <a:gd name="adj" fmla="val 7500"/>
            </a:avLst>
          </a:prstGeom>
          <a:solidFill>
            <a:srgbClr val="FFFDF7"/>
          </a:solidFill>
          <a:ln w="10160">
            <a:solidFill>
              <a:srgbClr val="F0E8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85248" y="1993392"/>
            <a:ext cx="1645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A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localStorage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9985248" y="2221992"/>
            <a:ext cx="1645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6B65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state.notes 改变后自动持久化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987552" y="3703320"/>
            <a:ext cx="10012680" cy="1051560"/>
          </a:xfrm>
          <a:prstGeom prst="roundRect">
            <a:avLst>
              <a:gd name="adj" fmla="val 5217"/>
            </a:avLst>
          </a:prstGeom>
          <a:solidFill>
            <a:srgbClr val="FFFDF7"/>
          </a:solidFill>
          <a:ln w="10160">
            <a:solidFill>
              <a:srgbClr val="F0E8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98448" y="3877056"/>
            <a:ext cx="1371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6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NotesState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0" y="3858768"/>
            <a:ext cx="75895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383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notes: Note[], selectedId: string | null, searchQuery: string, showTestPanel: boolean }</a:t>
            </a:r>
            <a:endParaRPr lang="en-US" sz="1030" dirty="0"/>
          </a:p>
        </p:txBody>
      </p:sp>
      <p:sp>
        <p:nvSpPr>
          <p:cNvPr id="26" name="Text 24"/>
          <p:cNvSpPr/>
          <p:nvPr/>
        </p:nvSpPr>
        <p:spPr>
          <a:xfrm>
            <a:off x="2743200" y="4233672"/>
            <a:ext cx="53035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B65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状态结构保持扁平，便于组件读取，也便于测试构造输入。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1133856" y="5422392"/>
            <a:ext cx="82296" cy="82296"/>
          </a:xfrm>
          <a:prstGeom prst="ellipse">
            <a:avLst/>
          </a:prstGeom>
          <a:solidFill>
            <a:srgbClr val="188038"/>
          </a:solidFill>
          <a:ln w="12700">
            <a:solidFill>
              <a:srgbClr val="1880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98448" y="5349240"/>
            <a:ext cx="2834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自动加载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298448" y="5577840"/>
            <a:ext cx="2971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B65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mount 时 loadNotes()，按 updatedAt 降序排序。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4654296" y="5422392"/>
            <a:ext cx="82296" cy="82296"/>
          </a:xfrm>
          <a:prstGeom prst="ellipse">
            <a:avLst/>
          </a:prstGeom>
          <a:solidFill>
            <a:srgbClr val="188038"/>
          </a:solidFill>
          <a:ln w="12700">
            <a:solidFill>
              <a:srgbClr val="1880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5349240"/>
            <a:ext cx="2834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自动保存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18888" y="5577840"/>
            <a:ext cx="2971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B65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 数组变化时 saveNotes() 写入本地。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8174736" y="5422392"/>
            <a:ext cx="82296" cy="82296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39328" y="5349240"/>
            <a:ext cx="2834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当前限制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339328" y="5577840"/>
            <a:ext cx="2971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B65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localStorage 适合轻量单机使用，后续可替换为文件/SQLite。</a:t>
            </a:r>
            <a:endParaRPr lang="en-US" sz="930" dirty="0"/>
          </a:p>
        </p:txBody>
      </p:sp>
      <p:sp>
        <p:nvSpPr>
          <p:cNvPr id="36" name="Text 34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8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 · Product Design &amp; Technical Architecture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9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6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A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组件树按工作区拆分，Hooks 承担状态和副作用编排。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892040" y="1417320"/>
            <a:ext cx="2194560" cy="384048"/>
          </a:xfrm>
          <a:prstGeom prst="roundRect">
            <a:avLst>
              <a:gd name="adj" fmla="val 9524"/>
            </a:avLst>
          </a:prstGeom>
          <a:solidFill>
            <a:srgbClr val="12121A"/>
          </a:solidFill>
          <a:ln w="10160">
            <a:solidFill>
              <a:srgbClr val="1212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92040" y="1481328"/>
            <a:ext cx="2194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</a:t>
            </a:r>
            <a:endParaRPr lang="en-US" sz="980" dirty="0"/>
          </a:p>
        </p:txBody>
      </p:sp>
      <p:sp>
        <p:nvSpPr>
          <p:cNvPr id="6" name="Shape 4"/>
          <p:cNvSpPr/>
          <p:nvPr/>
        </p:nvSpPr>
        <p:spPr>
          <a:xfrm>
            <a:off x="4709160" y="2084832"/>
            <a:ext cx="2560320" cy="384048"/>
          </a:xfrm>
          <a:prstGeom prst="roundRect">
            <a:avLst>
              <a:gd name="adj" fmla="val 9524"/>
            </a:avLst>
          </a:prstGeom>
          <a:solidFill>
            <a:srgbClr val="C8960C"/>
          </a:solidFill>
          <a:ln w="10160">
            <a:solidFill>
              <a:srgbClr val="C896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09160" y="2148840"/>
            <a:ext cx="2560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NotesProvider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1005840" y="2834640"/>
            <a:ext cx="1965960" cy="384048"/>
          </a:xfrm>
          <a:prstGeom prst="roundRect">
            <a:avLst>
              <a:gd name="adj" fmla="val 9524"/>
            </a:avLst>
          </a:prstGeom>
          <a:solidFill>
            <a:srgbClr val="2563EB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898648"/>
            <a:ext cx="1965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Sidebar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5074920" y="2834640"/>
            <a:ext cx="1965960" cy="384048"/>
          </a:xfrm>
          <a:prstGeom prst="roundRect">
            <a:avLst>
              <a:gd name="adj" fmla="val 9524"/>
            </a:avLst>
          </a:prstGeom>
          <a:solidFill>
            <a:srgbClr val="2563EB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2898648"/>
            <a:ext cx="1965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9098280" y="2834640"/>
            <a:ext cx="1965960" cy="384048"/>
          </a:xfrm>
          <a:prstGeom prst="roundRect">
            <a:avLst>
              <a:gd name="adj" fmla="val 9524"/>
            </a:avLst>
          </a:prstGeom>
          <a:solidFill>
            <a:srgbClr val="2563EB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98280" y="2898648"/>
            <a:ext cx="1965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TestPanel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58368" y="3730752"/>
            <a:ext cx="1691640" cy="384048"/>
          </a:xfrm>
          <a:prstGeom prst="roundRect">
            <a:avLst>
              <a:gd name="adj" fmla="val 9524"/>
            </a:avLst>
          </a:prstGeom>
          <a:solidFill>
            <a:srgbClr val="FDF0D5"/>
          </a:solidFill>
          <a:ln w="10160">
            <a:solidFill>
              <a:srgbClr val="F0E8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794760"/>
            <a:ext cx="1691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383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SidebarHeader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2487168" y="3730752"/>
            <a:ext cx="1691640" cy="384048"/>
          </a:xfrm>
          <a:prstGeom prst="roundRect">
            <a:avLst>
              <a:gd name="adj" fmla="val 9524"/>
            </a:avLst>
          </a:prstGeom>
          <a:solidFill>
            <a:srgbClr val="FDF0D5"/>
          </a:solidFill>
          <a:ln w="10160">
            <a:solidFill>
              <a:srgbClr val="F0E8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87168" y="3794760"/>
            <a:ext cx="1691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383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SearchInput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4315968" y="3730752"/>
            <a:ext cx="1691640" cy="384048"/>
          </a:xfrm>
          <a:prstGeom prst="roundRect">
            <a:avLst>
              <a:gd name="adj" fmla="val 9524"/>
            </a:avLst>
          </a:prstGeom>
          <a:solidFill>
            <a:srgbClr val="FDF0D5"/>
          </a:solidFill>
          <a:ln w="10160">
            <a:solidFill>
              <a:srgbClr val="F0E8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15968" y="3794760"/>
            <a:ext cx="1691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383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NoteList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6144768" y="3730752"/>
            <a:ext cx="1691640" cy="384048"/>
          </a:xfrm>
          <a:prstGeom prst="roundRect">
            <a:avLst>
              <a:gd name="adj" fmla="val 9524"/>
            </a:avLst>
          </a:prstGeom>
          <a:solidFill>
            <a:srgbClr val="FDF0D5"/>
          </a:solidFill>
          <a:ln w="10160">
            <a:solidFill>
              <a:srgbClr val="F0E8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4768" y="3794760"/>
            <a:ext cx="1691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383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TitleInput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7973568" y="3730752"/>
            <a:ext cx="1691640" cy="384048"/>
          </a:xfrm>
          <a:prstGeom prst="roundRect">
            <a:avLst>
              <a:gd name="adj" fmla="val 9524"/>
            </a:avLst>
          </a:prstGeom>
          <a:solidFill>
            <a:srgbClr val="FDF0D5"/>
          </a:solidFill>
          <a:ln w="10160">
            <a:solidFill>
              <a:srgbClr val="F0E8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73568" y="3794760"/>
            <a:ext cx="1691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383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ContentArea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9802368" y="3730752"/>
            <a:ext cx="1691640" cy="384048"/>
          </a:xfrm>
          <a:prstGeom prst="roundRect">
            <a:avLst>
              <a:gd name="adj" fmla="val 9524"/>
            </a:avLst>
          </a:prstGeom>
          <a:solidFill>
            <a:srgbClr val="FDF0D5"/>
          </a:solidFill>
          <a:ln w="10160">
            <a:solidFill>
              <a:srgbClr val="F0E8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02368" y="3794760"/>
            <a:ext cx="1691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383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StatusBar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868680" y="5166360"/>
            <a:ext cx="2423160" cy="621792"/>
          </a:xfrm>
          <a:prstGeom prst="roundRect">
            <a:avLst>
              <a:gd name="adj" fmla="val 7353"/>
            </a:avLst>
          </a:prstGeom>
          <a:solidFill>
            <a:srgbClr val="FFFDF7"/>
          </a:solidFill>
          <a:ln w="10160">
            <a:solidFill>
              <a:srgbClr val="F0E8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8408" y="5285232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67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useNotes()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78408" y="5504688"/>
            <a:ext cx="21488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B65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CRUD + selectedNote + filteredNotes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3657600" y="5166360"/>
            <a:ext cx="2423160" cy="621792"/>
          </a:xfrm>
          <a:prstGeom prst="roundRect">
            <a:avLst>
              <a:gd name="adj" fmla="val 7353"/>
            </a:avLst>
          </a:prstGeom>
          <a:solidFill>
            <a:srgbClr val="FFFDF7"/>
          </a:solidFill>
          <a:ln w="10160">
            <a:solidFill>
              <a:srgbClr val="F0E8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67328" y="5285232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67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useSearch()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767328" y="5504688"/>
            <a:ext cx="21488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B65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searchQuery action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6446520" y="5166360"/>
            <a:ext cx="2423160" cy="621792"/>
          </a:xfrm>
          <a:prstGeom prst="roundRect">
            <a:avLst>
              <a:gd name="adj" fmla="val 7353"/>
            </a:avLst>
          </a:prstGeom>
          <a:solidFill>
            <a:srgbClr val="FFFDF7"/>
          </a:solidFill>
          <a:ln w="10160">
            <a:solidFill>
              <a:srgbClr val="F0E8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56248" y="5285232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67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useKeyboard()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556248" y="5504688"/>
            <a:ext cx="21488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B65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Ctrl/Cmd+N 与 Escape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9235440" y="5166360"/>
            <a:ext cx="2423160" cy="621792"/>
          </a:xfrm>
          <a:prstGeom prst="roundRect">
            <a:avLst>
              <a:gd name="adj" fmla="val 7353"/>
            </a:avLst>
          </a:prstGeom>
          <a:solidFill>
            <a:srgbClr val="FFFDF7"/>
          </a:solidFill>
          <a:ln w="10160">
            <a:solidFill>
              <a:srgbClr val="F0E8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45168" y="5285232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67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useTheme()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345168" y="5504688"/>
            <a:ext cx="21488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B65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data-theme + 主题持久化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8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 · Product Design &amp; Technical Architecture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9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6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CAPABILITIES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A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核心能力由自研 Markdown 引擎和 Electron 原生桥接组成。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536192"/>
            <a:ext cx="5257800" cy="4251960"/>
          </a:xfrm>
          <a:prstGeom prst="roundRect">
            <a:avLst>
              <a:gd name="adj" fmla="val 1505"/>
            </a:avLst>
          </a:prstGeom>
          <a:solidFill>
            <a:srgbClr val="FFFDF7"/>
          </a:solidFill>
          <a:ln w="10160">
            <a:solidFill>
              <a:srgbClr val="F0E8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783080"/>
            <a:ext cx="2011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 Pipeline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87552" y="2331720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FDF0D5"/>
          </a:solidFill>
          <a:ln w="10160">
            <a:solidFill>
              <a:srgbClr val="F0E8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386584"/>
            <a:ext cx="18288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Text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828800" y="2651760"/>
            <a:ext cx="16459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09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87552" y="2834640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FEF9E7"/>
          </a:solidFill>
          <a:ln w="10160">
            <a:solidFill>
              <a:srgbClr val="F0E8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889504"/>
            <a:ext cx="18288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 Parse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828800" y="3154680"/>
            <a:ext cx="16459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09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3337560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FEF9E7"/>
          </a:solidFill>
          <a:ln w="10160">
            <a:solidFill>
              <a:srgbClr val="F0E8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392424"/>
            <a:ext cx="18288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Inline Parse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828800" y="3657600"/>
            <a:ext cx="16459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09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87552" y="3840480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FEF9E7"/>
          </a:solidFill>
          <a:ln w="10160">
            <a:solidFill>
              <a:srgbClr val="F0E8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3895344"/>
            <a:ext cx="18288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Preview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828800" y="4160520"/>
            <a:ext cx="16459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09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87552" y="4343400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FEF9E7"/>
          </a:solidFill>
          <a:ln w="10160">
            <a:solidFill>
              <a:srgbClr val="F0E8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4398264"/>
            <a:ext cx="18288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83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Syntax Highlight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10128" y="2331720"/>
            <a:ext cx="1920240" cy="310896"/>
          </a:xfrm>
          <a:prstGeom prst="roundRect">
            <a:avLst>
              <a:gd name="adj" fmla="val 17647"/>
            </a:avLst>
          </a:prstGeom>
          <a:solidFill>
            <a:srgbClr val="FDF0D5"/>
          </a:solidFill>
          <a:ln w="10160">
            <a:solidFill>
              <a:srgbClr val="FDF0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2340864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3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10128" y="2715768"/>
            <a:ext cx="1920240" cy="310896"/>
          </a:xfrm>
          <a:prstGeom prst="roundRect">
            <a:avLst>
              <a:gd name="adj" fmla="val 17647"/>
            </a:avLst>
          </a:prstGeom>
          <a:solidFill>
            <a:srgbClr val="FEF9E7"/>
          </a:solidFill>
          <a:ln w="10160">
            <a:solidFill>
              <a:srgbClr val="FEF9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2724912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3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粗体/斜体/删除线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10128" y="3099816"/>
            <a:ext cx="1920240" cy="310896"/>
          </a:xfrm>
          <a:prstGeom prst="roundRect">
            <a:avLst>
              <a:gd name="adj" fmla="val 17647"/>
            </a:avLst>
          </a:prstGeom>
          <a:solidFill>
            <a:srgbClr val="FDF0D5"/>
          </a:solidFill>
          <a:ln w="10160">
            <a:solidFill>
              <a:srgbClr val="FDF0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3108960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3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行内代码/代码块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10128" y="3483864"/>
            <a:ext cx="1920240" cy="310896"/>
          </a:xfrm>
          <a:prstGeom prst="roundRect">
            <a:avLst>
              <a:gd name="adj" fmla="val 17647"/>
            </a:avLst>
          </a:prstGeom>
          <a:solidFill>
            <a:srgbClr val="FEF9E7"/>
          </a:solidFill>
          <a:ln w="10160">
            <a:solidFill>
              <a:srgbClr val="FEF9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3493008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3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引用/列表/水平线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10128" y="3867912"/>
            <a:ext cx="1920240" cy="310896"/>
          </a:xfrm>
          <a:prstGeom prst="roundRect">
            <a:avLst>
              <a:gd name="adj" fmla="val 17647"/>
            </a:avLst>
          </a:prstGeom>
          <a:solidFill>
            <a:srgbClr val="FDF0D5"/>
          </a:solidFill>
          <a:ln w="10160">
            <a:solidFill>
              <a:srgbClr val="FDF0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3877056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3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链接/图片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87552" y="5230368"/>
            <a:ext cx="42062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B65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亮点：markdown.ts 无外部运行时依赖，便于控制渲染范围与安全边界。</a:t>
            </a:r>
            <a:endParaRPr lang="en-US" sz="910" dirty="0"/>
          </a:p>
        </p:txBody>
      </p:sp>
      <p:sp>
        <p:nvSpPr>
          <p:cNvPr id="31" name="Shape 29"/>
          <p:cNvSpPr/>
          <p:nvPr/>
        </p:nvSpPr>
        <p:spPr>
          <a:xfrm>
            <a:off x="6272784" y="1536192"/>
            <a:ext cx="5257800" cy="4251960"/>
          </a:xfrm>
          <a:prstGeom prst="roundRect">
            <a:avLst>
              <a:gd name="adj" fmla="val 1505"/>
            </a:avLst>
          </a:prstGeom>
          <a:solidFill>
            <a:srgbClr val="FFFDF7"/>
          </a:solidFill>
          <a:ln w="10160">
            <a:solidFill>
              <a:srgbClr val="F0E8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65392" y="1783080"/>
            <a:ext cx="2560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Electron Native Bridge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565392" y="2331720"/>
            <a:ext cx="4160520" cy="438912"/>
          </a:xfrm>
          <a:prstGeom prst="roundRect">
            <a:avLst>
              <a:gd name="adj" fmla="val 8333"/>
            </a:avLst>
          </a:prstGeom>
          <a:solidFill>
            <a:srgbClr val="12121A"/>
          </a:solidFill>
          <a:ln w="10160">
            <a:solidFill>
              <a:srgbClr val="1212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9984" y="2423160"/>
            <a:ext cx="11430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Process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7726680" y="2423160"/>
            <a:ext cx="27889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F4F1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BrowserWindow / Menu / dialog / fs/promises</a:t>
            </a:r>
            <a:endParaRPr lang="en-US" sz="770" dirty="0"/>
          </a:p>
        </p:txBody>
      </p:sp>
      <p:sp>
        <p:nvSpPr>
          <p:cNvPr id="36" name="Shape 34"/>
          <p:cNvSpPr/>
          <p:nvPr/>
        </p:nvSpPr>
        <p:spPr>
          <a:xfrm>
            <a:off x="6565392" y="3081528"/>
            <a:ext cx="4160520" cy="438912"/>
          </a:xfrm>
          <a:prstGeom prst="roundRect">
            <a:avLst>
              <a:gd name="adj" fmla="val 8333"/>
            </a:avLst>
          </a:prstGeom>
          <a:solidFill>
            <a:srgbClr val="C8960C"/>
          </a:solidFill>
          <a:ln w="10160">
            <a:solidFill>
              <a:srgbClr val="C8960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29984" y="3172968"/>
            <a:ext cx="11430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Preload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7726680" y="3172968"/>
            <a:ext cx="27889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F4F1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contextBridge.exposeInMainWorld("electronAPI")</a:t>
            </a:r>
            <a:endParaRPr lang="en-US" sz="770" dirty="0"/>
          </a:p>
        </p:txBody>
      </p:sp>
      <p:sp>
        <p:nvSpPr>
          <p:cNvPr id="39" name="Shape 37"/>
          <p:cNvSpPr/>
          <p:nvPr/>
        </p:nvSpPr>
        <p:spPr>
          <a:xfrm>
            <a:off x="6565392" y="3831336"/>
            <a:ext cx="4160520" cy="438912"/>
          </a:xfrm>
          <a:prstGeom prst="roundRect">
            <a:avLst>
              <a:gd name="adj" fmla="val 8333"/>
            </a:avLst>
          </a:prstGeom>
          <a:solidFill>
            <a:srgbClr val="12121A"/>
          </a:solidFill>
          <a:ln w="10160">
            <a:solidFill>
              <a:srgbClr val="1212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29984" y="3922776"/>
            <a:ext cx="11430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Renderer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7726680" y="3922776"/>
            <a:ext cx="27889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F4F1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onMenuAction(action, data) / exportNote(title, content)</a:t>
            </a:r>
            <a:endParaRPr lang="en-US" sz="770" dirty="0"/>
          </a:p>
        </p:txBody>
      </p:sp>
      <p:sp>
        <p:nvSpPr>
          <p:cNvPr id="42" name="Text 40"/>
          <p:cNvSpPr/>
          <p:nvPr/>
        </p:nvSpPr>
        <p:spPr>
          <a:xfrm>
            <a:off x="6565392" y="4800600"/>
            <a:ext cx="42976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65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当前状态：导出笔记已通过 IPC handler 闭环；导入菜单已在主进程发送事件，渲染进程可继续补齐处理。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8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 · Product Design &amp; Technical Architecture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9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B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&amp;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质量内建：测试覆盖核心逻辑，演进路线保持克制。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13232" y="1664208"/>
            <a:ext cx="3246120" cy="3886200"/>
          </a:xfrm>
          <a:prstGeom prst="roundRect">
            <a:avLst>
              <a:gd name="adj" fmla="val 1972"/>
            </a:avLst>
          </a:prstGeom>
          <a:solidFill>
            <a:srgbClr val="1A1A2A"/>
          </a:solidFill>
          <a:ln w="10160">
            <a:solidFill>
              <a:srgbClr val="2E2E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" y="1938528"/>
            <a:ext cx="2286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已覆盖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2514600"/>
            <a:ext cx="73152" cy="73152"/>
          </a:xfrm>
          <a:prstGeom prst="ellipse">
            <a:avLst/>
          </a:prstGeom>
          <a:solidFill>
            <a:srgbClr val="8B9D83"/>
          </a:solidFill>
          <a:ln w="12700">
            <a:solidFill>
              <a:srgbClr val="8B9D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423160"/>
            <a:ext cx="2331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D8D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notes.ts：17 个核心逻辑用例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1005840" y="3136392"/>
            <a:ext cx="73152" cy="73152"/>
          </a:xfrm>
          <a:prstGeom prst="ellipse">
            <a:avLst/>
          </a:prstGeom>
          <a:solidFill>
            <a:srgbClr val="8B9D83"/>
          </a:solidFill>
          <a:ln w="12700">
            <a:solidFill>
              <a:srgbClr val="8B9D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044952"/>
            <a:ext cx="2331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D8D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formatters.ts：时间与截断格式化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1005840" y="3758184"/>
            <a:ext cx="73152" cy="73152"/>
          </a:xfrm>
          <a:prstGeom prst="ellipse">
            <a:avLst/>
          </a:prstGeom>
          <a:solidFill>
            <a:srgbClr val="8B9D83"/>
          </a:solidFill>
          <a:ln w="12700">
            <a:solidFill>
              <a:srgbClr val="8B9D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666744"/>
            <a:ext cx="2331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D8D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组件测试：Sidebar / Editor / TestPanel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1005840" y="4379976"/>
            <a:ext cx="73152" cy="73152"/>
          </a:xfrm>
          <a:prstGeom prst="ellipse">
            <a:avLst/>
          </a:prstGeom>
          <a:solidFill>
            <a:srgbClr val="8B9D83"/>
          </a:solidFill>
          <a:ln w="12700">
            <a:solidFill>
              <a:srgbClr val="8B9D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288536"/>
            <a:ext cx="2331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D8D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test-runner：内置测试执行器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4507992" y="1664208"/>
            <a:ext cx="3246120" cy="3886200"/>
          </a:xfrm>
          <a:prstGeom prst="roundRect">
            <a:avLst>
              <a:gd name="adj" fmla="val 1972"/>
            </a:avLst>
          </a:prstGeom>
          <a:solidFill>
            <a:srgbClr val="1A1A2A"/>
          </a:solidFill>
          <a:ln w="10160">
            <a:solidFill>
              <a:srgbClr val="2E2E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64024" y="1938528"/>
            <a:ext cx="2286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架构优势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00600" y="2514600"/>
            <a:ext cx="73152" cy="73152"/>
          </a:xfrm>
          <a:prstGeom prst="ellipse">
            <a:avLst/>
          </a:prstGeom>
          <a:solidFill>
            <a:srgbClr val="8B9D83"/>
          </a:solidFill>
          <a:ln w="12700">
            <a:solidFill>
              <a:srgbClr val="8B9D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423160"/>
            <a:ext cx="2331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D8D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领域函数可单测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4800600" y="3136392"/>
            <a:ext cx="73152" cy="73152"/>
          </a:xfrm>
          <a:prstGeom prst="ellipse">
            <a:avLst/>
          </a:prstGeom>
          <a:solidFill>
            <a:srgbClr val="8B9D83"/>
          </a:solidFill>
          <a:ln w="12700">
            <a:solidFill>
              <a:srgbClr val="8B9D8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3044952"/>
            <a:ext cx="2331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D8D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组件职责清晰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4800600" y="3758184"/>
            <a:ext cx="73152" cy="73152"/>
          </a:xfrm>
          <a:prstGeom prst="ellipse">
            <a:avLst/>
          </a:prstGeom>
          <a:solidFill>
            <a:srgbClr val="8B9D83"/>
          </a:solidFill>
          <a:ln w="12700">
            <a:solidFill>
              <a:srgbClr val="8B9D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666744"/>
            <a:ext cx="2331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D8D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Electron 原生能力隔离在主进程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4800600" y="4379976"/>
            <a:ext cx="73152" cy="73152"/>
          </a:xfrm>
          <a:prstGeom prst="ellipse">
            <a:avLst/>
          </a:prstGeom>
          <a:solidFill>
            <a:srgbClr val="8B9D83"/>
          </a:solidFill>
          <a:ln w="12700">
            <a:solidFill>
              <a:srgbClr val="8B9D8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4288536"/>
            <a:ext cx="2331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D8D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本地优先，无后端依赖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8302752" y="1664208"/>
            <a:ext cx="3246120" cy="3886200"/>
          </a:xfrm>
          <a:prstGeom prst="roundRect">
            <a:avLst>
              <a:gd name="adj" fmla="val 1972"/>
            </a:avLst>
          </a:prstGeom>
          <a:solidFill>
            <a:srgbClr val="1A1A2A"/>
          </a:solidFill>
          <a:ln w="10160">
            <a:solidFill>
              <a:srgbClr val="2E2E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58784" y="1938528"/>
            <a:ext cx="2286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2B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595360" y="2514600"/>
            <a:ext cx="73152" cy="73152"/>
          </a:xfrm>
          <a:prstGeom prst="ellipse">
            <a:avLst/>
          </a:prstGeom>
          <a:solidFill>
            <a:srgbClr val="E2B328"/>
          </a:solidFill>
          <a:ln w="12700">
            <a:solidFill>
              <a:srgbClr val="E2B3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0" y="2423160"/>
            <a:ext cx="2331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D8D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补齐导入文件 renderer 处理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8595360" y="3136392"/>
            <a:ext cx="73152" cy="73152"/>
          </a:xfrm>
          <a:prstGeom prst="ellipse">
            <a:avLst/>
          </a:prstGeom>
          <a:solidFill>
            <a:srgbClr val="E2B328"/>
          </a:solidFill>
          <a:ln w="12700">
            <a:solidFill>
              <a:srgbClr val="E2B3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0" y="3044952"/>
            <a:ext cx="2331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D8D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 localStorage 演进为文件或 SQLite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8595360" y="3758184"/>
            <a:ext cx="73152" cy="73152"/>
          </a:xfrm>
          <a:prstGeom prst="ellipse">
            <a:avLst/>
          </a:prstGeom>
          <a:solidFill>
            <a:srgbClr val="E2B328"/>
          </a:solidFill>
          <a:ln w="12700">
            <a:solidFill>
              <a:srgbClr val="E2B3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78240" y="3666744"/>
            <a:ext cx="2331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D8D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完善导出格式与错误提示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8595360" y="4379976"/>
            <a:ext cx="73152" cy="73152"/>
          </a:xfrm>
          <a:prstGeom prst="ellipse">
            <a:avLst/>
          </a:prstGeom>
          <a:solidFill>
            <a:srgbClr val="E2B328"/>
          </a:solidFill>
          <a:ln w="12700">
            <a:solidFill>
              <a:srgbClr val="E2B3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78240" y="4288536"/>
            <a:ext cx="2331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D8D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增加端到端桌面流程测试</a:t>
            </a:r>
            <a:endParaRPr lang="en-US" sz="940" dirty="0"/>
          </a:p>
        </p:txBody>
      </p:sp>
      <p:sp>
        <p:nvSpPr>
          <p:cNvPr id="34" name="Text 32"/>
          <p:cNvSpPr/>
          <p:nvPr/>
        </p:nvSpPr>
        <p:spPr>
          <a:xfrm>
            <a:off x="914400" y="5925312"/>
            <a:ext cx="10012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C7C7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总结：这是一款已经具备清晰 MVP 闭环的本地桌面笔记应用，当前架构适合继续沿着“可靠本地存储 + 更完整原生集成”演进。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 · Product Design &amp; Technical Architecture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7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Notes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笔记：产品设计与技术架构</dc:title>
  <dc:subject>笔记软件产品设计与技术架构</dc:subject>
  <dc:creator>Codex</dc:creator>
  <cp:lastModifiedBy>Codex</cp:lastModifiedBy>
  <cp:revision>1</cp:revision>
  <dcterms:created xsi:type="dcterms:W3CDTF">2026-06-13T06:08:48Z</dcterms:created>
  <dcterms:modified xsi:type="dcterms:W3CDTF">2026-06-13T06:08:48Z</dcterms:modified>
</cp:coreProperties>
</file>